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23611e30cb428f" /><Relationship Type="http://schemas.openxmlformats.org/officeDocument/2006/relationships/extended-properties" Target="/docProps/app.xml" Id="Rba19417aaae942a4" /><Relationship Type="http://schemas.openxmlformats.org/officeDocument/2006/relationships/officeDocument" Target="/ppt/presentation.xml" Id="R5ef7a89b4ff9490e" /></Relationships>
</file>

<file path=ppt/presentation.xml><?xml version="1.0" encoding="utf-8"?>
<p:presentation xmlns:p="http://schemas.openxmlformats.org/presentationml/2006/main">
  <p:sldMasterIdLst>
    <p:sldMasterId xmlns:r="http://schemas.openxmlformats.org/officeDocument/2006/relationships" id="2147483648" r:id="R269fa6c6b7374671"/>
  </p:sldMasterIdLst>
  <p:notesMasterIdLst>
    <p:notesMasterId xmlns:r="http://schemas.openxmlformats.org/officeDocument/2006/relationships" r:id="Rf31d4e9b7d9f4e56"/>
  </p:notesMasterIdLst>
  <p:sldIdLst>
    <p:sldId xmlns:r="http://schemas.openxmlformats.org/officeDocument/2006/relationships" id="256" r:id="Rf37a10476bfd41f5"/>
    <p:sldId xmlns:r="http://schemas.openxmlformats.org/officeDocument/2006/relationships" id="257" r:id="R28b05c8153d44e40"/>
    <p:sldId xmlns:r="http://schemas.openxmlformats.org/officeDocument/2006/relationships" id="258" r:id="R7e33f51737924469"/>
    <p:sldId xmlns:r="http://schemas.openxmlformats.org/officeDocument/2006/relationships" id="259" r:id="R95ece5e7360949dd"/>
    <p:sldId xmlns:r="http://schemas.openxmlformats.org/officeDocument/2006/relationships" id="260" r:id="R85d6294d258d43eb"/>
    <p:sldId xmlns:r="http://schemas.openxmlformats.org/officeDocument/2006/relationships" id="261" r:id="R83b3704dd93b4a0c"/>
    <p:sldId xmlns:r="http://schemas.openxmlformats.org/officeDocument/2006/relationships" id="262" r:id="Rca881b01bcdb4189"/>
    <p:sldId xmlns:r="http://schemas.openxmlformats.org/officeDocument/2006/relationships" id="263" r:id="R317abfe1c2df46da"/>
    <p:sldId xmlns:r="http://schemas.openxmlformats.org/officeDocument/2006/relationships" id="264" r:id="R21f208833b1d46fb"/>
    <p:sldId xmlns:r="http://schemas.openxmlformats.org/officeDocument/2006/relationships" id="265" r:id="Rb1fc2b78217f4177"/>
    <p:sldId xmlns:r="http://schemas.openxmlformats.org/officeDocument/2006/relationships" id="266" r:id="R523cd05eaa884f60"/>
    <p:sldId xmlns:r="http://schemas.openxmlformats.org/officeDocument/2006/relationships" id="267" r:id="Rf2e45c1bde424f61"/>
    <p:sldId xmlns:r="http://schemas.openxmlformats.org/officeDocument/2006/relationships" id="268" r:id="R9ba888058f14462e"/>
    <p:sldId xmlns:r="http://schemas.openxmlformats.org/officeDocument/2006/relationships" id="269" r:id="R20a092ca36eb483f"/>
    <p:sldId xmlns:r="http://schemas.openxmlformats.org/officeDocument/2006/relationships" id="270" r:id="R4ac47acac44d4a39"/>
    <p:sldId xmlns:r="http://schemas.openxmlformats.org/officeDocument/2006/relationships" id="271" r:id="R3cca39d617f14224"/>
    <p:sldId xmlns:r="http://schemas.openxmlformats.org/officeDocument/2006/relationships" id="272" r:id="R57f6134d741742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0df4619a4948e1" /><Relationship Type="http://schemas.openxmlformats.org/officeDocument/2006/relationships/slideMaster" Target="/ppt/slideMasters/slideMaster1.xml" Id="R269fa6c6b7374671" /><Relationship Type="http://schemas.openxmlformats.org/officeDocument/2006/relationships/notesMaster" Target="/ppt/notesMasters/notesMaster1.xml" Id="Rf31d4e9b7d9f4e56" /><Relationship Type="http://schemas.openxmlformats.org/officeDocument/2006/relationships/presProps" Target="/ppt/presProps.xml" Id="Rff143e7a445e4810" /><Relationship Type="http://schemas.openxmlformats.org/officeDocument/2006/relationships/tableStyles" Target="/ppt/tableStyles.xml" Id="R7625940ed8eb433f" /><Relationship Type="http://schemas.openxmlformats.org/officeDocument/2006/relationships/slide" Target="/ppt/slides/slide1.xml" Id="Rf37a10476bfd41f5" /><Relationship Type="http://schemas.openxmlformats.org/officeDocument/2006/relationships/slide" Target="/ppt/slides/slide2.xml" Id="R28b05c8153d44e40" /><Relationship Type="http://schemas.openxmlformats.org/officeDocument/2006/relationships/slide" Target="/ppt/slides/slide3.xml" Id="R7e33f51737924469" /><Relationship Type="http://schemas.openxmlformats.org/officeDocument/2006/relationships/slide" Target="/ppt/slides/slide4.xml" Id="R95ece5e7360949dd" /><Relationship Type="http://schemas.openxmlformats.org/officeDocument/2006/relationships/slide" Target="/ppt/slides/slide5.xml" Id="R85d6294d258d43eb" /><Relationship Type="http://schemas.openxmlformats.org/officeDocument/2006/relationships/slide" Target="/ppt/slides/slide6.xml" Id="R83b3704dd93b4a0c" /><Relationship Type="http://schemas.openxmlformats.org/officeDocument/2006/relationships/slide" Target="/ppt/slides/slide7.xml" Id="Rca881b01bcdb4189" /><Relationship Type="http://schemas.openxmlformats.org/officeDocument/2006/relationships/slide" Target="/ppt/slides/slide8.xml" Id="R317abfe1c2df46da" /><Relationship Type="http://schemas.openxmlformats.org/officeDocument/2006/relationships/slide" Target="/ppt/slides/slide9.xml" Id="R21f208833b1d46fb" /><Relationship Type="http://schemas.openxmlformats.org/officeDocument/2006/relationships/slide" Target="/ppt/slides/slide10.xml" Id="Rb1fc2b78217f4177" /><Relationship Type="http://schemas.openxmlformats.org/officeDocument/2006/relationships/slide" Target="/ppt/slides/slide11.xml" Id="R523cd05eaa884f60" /><Relationship Type="http://schemas.openxmlformats.org/officeDocument/2006/relationships/slide" Target="/ppt/slides/slide12.xml" Id="Rf2e45c1bde424f61" /><Relationship Type="http://schemas.openxmlformats.org/officeDocument/2006/relationships/slide" Target="/ppt/slides/slide13.xml" Id="R9ba888058f14462e" /><Relationship Type="http://schemas.openxmlformats.org/officeDocument/2006/relationships/slide" Target="/ppt/slides/slide14.xml" Id="R20a092ca36eb483f" /><Relationship Type="http://schemas.openxmlformats.org/officeDocument/2006/relationships/slide" Target="/ppt/slides/slide15.xml" Id="R4ac47acac44d4a39" /><Relationship Type="http://schemas.openxmlformats.org/officeDocument/2006/relationships/slide" Target="/ppt/slides/slide16.xml" Id="R3cca39d617f14224" /><Relationship Type="http://schemas.openxmlformats.org/officeDocument/2006/relationships/slide" Target="/ppt/slides/slide17.xml" Id="R57f6134d741742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3947b1a1f4e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cf825335674a3d" /><Relationship Type="http://schemas.openxmlformats.org/officeDocument/2006/relationships/notesMaster" Target="/ppt/notesMasters/notesMaster1.xml" Id="Redf33c45355444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4f39ed056a4126" /><Relationship Type="http://schemas.openxmlformats.org/officeDocument/2006/relationships/notesMaster" Target="/ppt/notesMasters/notesMaster1.xml" Id="R2f2641cfae70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faf81903a34773" /><Relationship Type="http://schemas.openxmlformats.org/officeDocument/2006/relationships/notesMaster" Target="/ppt/notesMasters/notesMaster1.xml" Id="Rb929bd682dd34e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14aa9c50c042c3" /><Relationship Type="http://schemas.openxmlformats.org/officeDocument/2006/relationships/notesMaster" Target="/ppt/notesMasters/notesMaster1.xml" Id="R1a4b83cc1ef846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9e60441ebe4494" /><Relationship Type="http://schemas.openxmlformats.org/officeDocument/2006/relationships/notesMaster" Target="/ppt/notesMasters/notesMaster1.xml" Id="R4281380e88aa4d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3159e9783f48a8" /><Relationship Type="http://schemas.openxmlformats.org/officeDocument/2006/relationships/notesMaster" Target="/ppt/notesMasters/notesMaster1.xml" Id="R17ab0c13bc1b45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31a0e83ccf4ff4" /><Relationship Type="http://schemas.openxmlformats.org/officeDocument/2006/relationships/notesMaster" Target="/ppt/notesMasters/notesMaster1.xml" Id="Rcb9979245f9241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b55cdcf2a94748" /><Relationship Type="http://schemas.openxmlformats.org/officeDocument/2006/relationships/notesMaster" Target="/ppt/notesMasters/notesMaster1.xml" Id="R4de86119ba3041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9f29e418da4c1f" /><Relationship Type="http://schemas.openxmlformats.org/officeDocument/2006/relationships/notesMaster" Target="/ppt/notesMasters/notesMaster1.xml" Id="Rab902fe0dbfa44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fa923cb01f4d4c" /><Relationship Type="http://schemas.openxmlformats.org/officeDocument/2006/relationships/notesMaster" Target="/ppt/notesMasters/notesMaster1.xml" Id="Rcbbb68fcd70b41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852a78c17e41a5" /><Relationship Type="http://schemas.openxmlformats.org/officeDocument/2006/relationships/notesMaster" Target="/ppt/notesMasters/notesMaster1.xml" Id="R7a8b69a0b61446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c77a5635d457e" /><Relationship Type="http://schemas.openxmlformats.org/officeDocument/2006/relationships/notesMaster" Target="/ppt/notesMasters/notesMaster1.xml" Id="R3d8a7170666241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edb17eb42644f9" /><Relationship Type="http://schemas.openxmlformats.org/officeDocument/2006/relationships/notesMaster" Target="/ppt/notesMasters/notesMaster1.xml" Id="R958856d9521149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2c2d6dba8147d3" /><Relationship Type="http://schemas.openxmlformats.org/officeDocument/2006/relationships/notesMaster" Target="/ppt/notesMasters/notesMaster1.xml" Id="R701a19be805642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3085ae018d44e7" /><Relationship Type="http://schemas.openxmlformats.org/officeDocument/2006/relationships/notesMaster" Target="/ppt/notesMasters/notesMaster1.xml" Id="Ra11c8fee132a46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8647a14a6843c6" /><Relationship Type="http://schemas.openxmlformats.org/officeDocument/2006/relationships/notesMaster" Target="/ppt/notesMasters/notesMaster1.xml" Id="Rb290a30104a349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c14b0197924ae4" /><Relationship Type="http://schemas.openxmlformats.org/officeDocument/2006/relationships/notesMaster" Target="/ppt/notesMasters/notesMaster1.xml" Id="R6fbfc04b49ed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Peace Funso-Ore</a:t>
            </a:r>
          </a:p>
          <a:p xmlns:a="http://schemas.openxmlformats.org/drawingml/2006/main">
            <a:r>
              <a:t>TIME: 35 seconds</a:t>
            </a:r>
          </a:p>
          <a:p xmlns:a="http://schemas.openxmlformats.org/drawingml/2006/main">
            <a:r>
              <a:t/>
            </a:r>
          </a:p>
          <a:p xmlns:a="http://schemas.openxmlformats.org/drawingml/2006/main">
            <a:r>
              <a:t>Hi, we are Peace, James, Emaury, and Tobenna. Our project is ESCAPE THE PROFESSOR, a Roblox school escape game. The joke is that school has ended, but the professor has assigned one thousand questions. The player has to escape through six rooms and reach the school bus. We will explain the game design, show how some of the real code works, and discuss the bugs and improvements.</a:t>
            </a:r>
          </a:p>
          <a:p xmlns:a="http://schemas.openxmlformats.org/drawingml/2006/main">
            <a:r>
              <a:t/>
            </a:r>
          </a:p>
          <a:p xmlns:a="http://schemas.openxmlformats.org/drawingml/2006/main">
            <a:r>
              <a:t>SOURCE: C:\Users\toben\OneDrive\Documents\ChatGPT\Rojo\src\shared\Config.luau</a:t>
            </a:r>
          </a:p>
          <a:p xmlns:a="http://schemas.openxmlformats.org/drawingml/2006/main">
            <a:r>
              <a:t>Screenshot: local Campus Upgrade classroom, captured in Roblox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Peace Funso-Ore</a:t>
            </a:r>
          </a:p>
          <a:p xmlns:a="http://schemas.openxmlformats.org/drawingml/2006/main">
            <a:r>
              <a:t>TIME: 35 seconds</a:t>
            </a:r>
          </a:p>
          <a:p xmlns:a="http://schemas.openxmlformats.org/drawingml/2006/main">
            <a:r>
              <a:t/>
            </a:r>
          </a:p>
          <a:p xmlns:a="http://schemas.openxmlformats.org/drawingml/2006/main">
            <a:r>
              <a:t>For this presentation, each person has a project responsibility. I am the game design lead, so I will explain the rules and the order of the rooms. James is the programming lead and will explain how the server runs the game. Emaury is the visual and interface lead, explaining the school, character, and screen layout. Tobenna is the testing and improvement lead, covering bugs, difficulty, and our demonstration. These are our assigned responsibilities for understanding and presenting the project.</a:t>
            </a:r>
          </a:p>
          <a:p xmlns:a="http://schemas.openxmlformats.org/drawingml/2006/main">
            <a:r>
              <a:t/>
            </a:r>
          </a:p>
          <a:p xmlns:a="http://schemas.openxmlformats.org/drawingml/2006/main">
            <a:r>
              <a:t>PROJECT SOURCES</a:t>
            </a:r>
          </a:p>
          <a:p xmlns:a="http://schemas.openxmlformats.org/drawingml/2006/main">
            <a:r>
              <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Peace Funso-Ore</a:t>
            </a:r>
          </a:p>
          <a:p xmlns:a="http://schemas.openxmlformats.org/drawingml/2006/main">
            <a:r>
              <a:t>TIME: 35 seconds</a:t>
            </a:r>
          </a:p>
          <a:p xmlns:a="http://schemas.openxmlformats.org/drawingml/2006/main">
            <a:r>
              <a:t/>
            </a:r>
          </a:p>
          <a:p xmlns:a="http://schemas.openxmlformats.org/drawingml/2006/main">
            <a:r>
              <a:t>The rooms change the type of challenge as the player moves forward. First, find three homework sheets. Next, dodge the pencils in the hallway. The library turns books into a jumping course. The science room adds a three-question quiz. Then the player sneaks past the professor to collect an exit key. The final room combines weaving, jumping, and sprinting. The giant books and school jokes make ordinary school objects part of the obstacle course.</a:t>
            </a:r>
          </a:p>
          <a:p xmlns:a="http://schemas.openxmlformats.org/drawingml/2006/main">
            <a:r>
              <a:t/>
            </a:r>
          </a:p>
          <a:p xmlns:a="http://schemas.openxmlformats.org/drawingml/2006/main">
            <a:r>
              <a:t>PROJECT SOURCES</a:t>
            </a:r>
          </a:p>
          <a:p xmlns:a="http://schemas.openxmlformats.org/drawingml/2006/main">
            <a:r>
              <a:t>C:\Users\toben\OneDrive\Documents\ChatGPT\Rojo\src\shared\Config.luau</a:t>
            </a:r>
          </a:p>
          <a:p xmlns:a="http://schemas.openxmlformats.org/drawingml/2006/main">
            <a:r>
              <a:t>C:\Users\toben\OneDrive\Documents\ChatGPT\Rojo\studio\BuildMap.luau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Peace Funso-Ore</a:t>
            </a:r>
          </a:p>
          <a:p xmlns:a="http://schemas.openxmlformats.org/drawingml/2006/main">
            <a:r>
              <a:t>TIME: 40 seconds</a:t>
            </a:r>
          </a:p>
          <a:p xmlns:a="http://schemas.openxmlformats.org/drawingml/2006/main">
            <a:r>
              <a:t/>
            </a:r>
          </a:p>
          <a:p xmlns:a="http://schemas.openxmlformats.org/drawingml/2006/main">
            <a:r>
              <a:t>The player always has a current objective. Completing it opens the next part of the school. Checkpoints help a mistake feel recoverable, because the player returns to a saved point. Six optional hall passes encourage exploration, but the player does not need them to escape. Sprinting uses stamina, so holding the run button forever will not work. At the end, players receive a grade based on time and catches and can replay to improve their session best. James will explain how the code controls these rules.</a:t>
            </a:r>
          </a:p>
          <a:p xmlns:a="http://schemas.openxmlformats.org/drawingml/2006/main">
            <a:r>
              <a:t/>
            </a:r>
          </a:p>
          <a:p xmlns:a="http://schemas.openxmlformats.org/drawingml/2006/main">
            <a:r>
              <a:t>PROJECT SOURCES</a:t>
            </a:r>
          </a:p>
          <a:p xmlns:a="http://schemas.openxmlformats.org/drawingml/2006/main">
            <a:r>
              <a:t>C:\Users\toben\OneDrive\Documents\ChatGPT\Rojo\src\server\Progression.luau</a:t>
            </a:r>
          </a:p>
          <a:p xmlns:a="http://schemas.openxmlformats.org/drawingml/2006/main">
            <a:r>
              <a:t>C:\Users\toben\OneDrive\Documents\ChatGPT\Rojo\src\shared\Config.luau</a:t>
            </a:r>
          </a:p>
          <a:p xmlns:a="http://schemas.openxmlformats.org/drawingml/2006/main">
            <a:r>
              <a:t>C:\Users\toben\OneDrive\Documents\ChatGPT\Rojo\src\server\Main.server.luau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James Hunter</a:t>
            </a:r>
          </a:p>
          <a:p xmlns:a="http://schemas.openxmlformats.org/drawingml/2006/main">
            <a:r>
              <a:t>TIME: 40 seconds</a:t>
            </a:r>
          </a:p>
          <a:p xmlns:a="http://schemas.openxmlformats.org/drawingml/2006/main">
            <a:r>
              <a:t/>
            </a:r>
          </a:p>
          <a:p xmlns:a="http://schemas.openxmlformats.org/drawingml/2006/main">
            <a:r>
              <a:t>Roblox Studio holds the school and runs the game. Luau is the programming language. Rojo syncs our local code files into the correct Studio folders. The server controls progress, catches, and correct answers. The client handles input, the interface, and effects. Shared files hold settings used by both. We edit the source files on the computer so Rojo keeps them in sync. The project used AI assistance for development and debugging. Understanding and checking the code is part of our responsibility.</a:t>
            </a:r>
          </a:p>
          <a:p xmlns:a="http://schemas.openxmlformats.org/drawingml/2006/main">
            <a:r>
              <a:t/>
            </a:r>
          </a:p>
          <a:p xmlns:a="http://schemas.openxmlformats.org/drawingml/2006/main">
            <a:r>
              <a:t>PROJECT SOURCES</a:t>
            </a:r>
          </a:p>
          <a:p xmlns:a="http://schemas.openxmlformats.org/drawingml/2006/main">
            <a:r>
              <a:t>C:\Users\toben\OneDrive\Documents\ChatGPT\Rojo\default.project.json</a:t>
            </a:r>
          </a:p>
          <a:p xmlns:a="http://schemas.openxmlformats.org/drawingml/2006/main">
            <a:r>
              <a:t>C:\Users\toben\OneDrive\Documents\ChatGPT\Rojo\src\server\Main.server.luau</a:t>
            </a:r>
          </a:p>
          <a:p xmlns:a="http://schemas.openxmlformats.org/drawingml/2006/main">
            <a:r>
              <a:t>C:\Users\toben\OneDrive\Documents\ChatGPT\Rojo\src\client\Main.client.luau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James Hunter</a:t>
            </a:r>
          </a:p>
          <a:p xmlns:a="http://schemas.openxmlformats.org/drawingml/2006/main">
            <a:r>
              <a:t>TIME: 45 seconds</a:t>
            </a:r>
          </a:p>
          <a:p xmlns:a="http://schemas.openxmlformats.org/drawingml/2006/main">
            <a:r>
              <a:t/>
            </a:r>
          </a:p>
          <a:p xmlns:a="http://schemas.openxmlformats.org/drawingml/2006/main">
            <a:r>
              <a:t>This is real code from the interaction script, with extra spacing to make it readable. The variable s stores the player state. The if statement checks whether Homework is below three. If it is, the server sends a message and return stops this action. Once the player has three sheets, the program reaches P.Stage. That function advances the player to stage two and uses the HallStart checkpoint. The check runs on the server, so the interface alone cannot decide that the player has completed a room.</a:t>
            </a:r>
          </a:p>
          <a:p xmlns:a="http://schemas.openxmlformats.org/drawingml/2006/main">
            <a:r>
              <a:t/>
            </a:r>
          </a:p>
          <a:p xmlns:a="http://schemas.openxmlformats.org/drawingml/2006/main">
            <a:r>
              <a:t>PROJECT SOURCES</a:t>
            </a:r>
          </a:p>
          <a:p xmlns:a="http://schemas.openxmlformats.org/drawingml/2006/main">
            <a:r>
              <a:t>C:\Users\toben\OneDrive\Documents\ChatGPT\Rojo\src\server\Interactions.luau</a:t>
            </a:r>
          </a:p>
          <a:p xmlns:a="http://schemas.openxmlformats.org/drawingml/2006/main">
            <a:r>
              <a:t>C:\Users\toben\OneDrive\Documents\ChatGPT\Rojo\src\server\Progression.luau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James Hunter</a:t>
            </a:r>
          </a:p>
          <a:p xmlns:a="http://schemas.openxmlformats.org/drawingml/2006/main">
            <a:r>
              <a:t>TIME: 45 seconds</a:t>
            </a:r>
          </a:p>
          <a:p xmlns:a="http://schemas.openxmlformats.org/drawingml/2006/main">
            <a:r>
              <a:t/>
            </a:r>
          </a:p>
          <a:p xmlns:a="http://schemas.openxmlformats.org/drawingml/2006/main">
            <a:r>
              <a:t>The quiz contains nine possible questions. Each run selects one math question, one science question, and one school-survival question. This loop shuffles the answer positions. The list starts with one, two, and three. The loop chooses a random position and swaps two entries. This means the correct answer does not always appear on the same button. Correct answers remain on the server, and a cooldown discourages clicking every answer instantly. Emaury will now explain how the game communicates these challenges visually.</a:t>
            </a:r>
          </a:p>
          <a:p xmlns:a="http://schemas.openxmlformats.org/drawingml/2006/main">
            <a:r>
              <a:t/>
            </a:r>
          </a:p>
          <a:p xmlns:a="http://schemas.openxmlformats.org/drawingml/2006/main">
            <a:r>
              <a:t>PROJECT SOURCES</a:t>
            </a:r>
          </a:p>
          <a:p xmlns:a="http://schemas.openxmlformats.org/drawingml/2006/main">
            <a:r>
              <a:t>C:\Users\toben\OneDrive\Documents\ChatGPT\Rojo\src\server\Quiz.luau</a:t>
            </a:r>
          </a:p>
          <a:p xmlns:a="http://schemas.openxmlformats.org/drawingml/2006/main">
            <a:r>
              <a:t>C:\Users\toben\OneDrive\Documents\ChatGPT\Rojo\src\server\Interactions.luau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Emaury Onyeneho</a:t>
            </a:r>
          </a:p>
          <a:p xmlns:a="http://schemas.openxmlformats.org/drawingml/2006/main">
            <a:r>
              <a:t>TIME: 40 seconds</a:t>
            </a:r>
          </a:p>
          <a:p xmlns:a="http://schemas.openxmlformats.org/drawingml/2006/main">
            <a:r>
              <a:t/>
            </a:r>
          </a:p>
          <a:p xmlns:a="http://schemas.openxmlformats.org/drawingml/2006/main">
            <a:r>
              <a:t>Our professor is a stylized Roblox character with a bright yellow hoodie, dark trousers, and a recognizable face. The design follows the appearance reference chosen for the project. The yellow color makes him easy to spot inside the school. His exaggerated school dialogue keeps the tone funny. The model in this image is the actual professor asset, staged in the classroom for a clear view. His movement and catching behavior come from a separate AI script.</a:t>
            </a:r>
          </a:p>
          <a:p xmlns:a="http://schemas.openxmlformats.org/drawingml/2006/main">
            <a:r>
              <a:t/>
            </a:r>
          </a:p>
          <a:p xmlns:a="http://schemas.openxmlformats.org/drawingml/2006/main">
            <a:r>
              <a:t>PROJECT SOURCES</a:t>
            </a:r>
          </a:p>
          <a:p xmlns:a="http://schemas.openxmlformats.org/drawingml/2006/main">
            <a:r>
              <a:t>C:\Users\toben\OneDrive\Documents\ChatGPT\Rojo\studio\VisualUpgrade.luau</a:t>
            </a:r>
          </a:p>
          <a:p xmlns:a="http://schemas.openxmlformats.org/drawingml/2006/main">
            <a:r>
              <a:t>C:\Users\toben\OneDrive\Documents\ChatGPT\Rojo\src\server\ProfessorAI.luau</a:t>
            </a:r>
          </a:p>
          <a:p xmlns:a="http://schemas.openxmlformats.org/drawingml/2006/main">
            <a:r>
              <a:t>C:\Users\toben\OneDrive\Documents\ChatGPT\Rojo\src\shared\Config.luau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Emaury Onyeneho</a:t>
            </a:r>
          </a:p>
          <a:p xmlns:a="http://schemas.openxmlformats.org/drawingml/2006/main">
            <a:r>
              <a:t>TIME: 35 seconds</a:t>
            </a:r>
          </a:p>
          <a:p xmlns:a="http://schemas.openxmlformats.org/drawingml/2006/main">
            <a:r>
              <a:t/>
            </a:r>
          </a:p>
          <a:p xmlns:a="http://schemas.openxmlformats.org/drawingml/2006/main">
            <a:r>
              <a:t>The environment gives players clues without needing a long tutorial. Numbered doors show the room order, while posters connect the school theme to the next challenge. Glowing homework and a golden key attract attention to important items. Room colors help players recognize where they are. We also separate decoration from obstacles. New decorative pieces do not collide with players, so a poster or small visual detail should not unexpectedly block a route.</a:t>
            </a:r>
          </a:p>
          <a:p xmlns:a="http://schemas.openxmlformats.org/drawingml/2006/main">
            <a:r>
              <a:t/>
            </a:r>
          </a:p>
          <a:p xmlns:a="http://schemas.openxmlformats.org/drawingml/2006/main">
            <a:r>
              <a:t>PROJECT SOURCES</a:t>
            </a:r>
          </a:p>
          <a:p xmlns:a="http://schemas.openxmlformats.org/drawingml/2006/main">
            <a:r>
              <a:t>C:\Users\toben\OneDrive\Documents\ChatGPT\Rojo\studio\CampusPolish.luau</a:t>
            </a:r>
          </a:p>
          <a:p xmlns:a="http://schemas.openxmlformats.org/drawingml/2006/main">
            <a:r>
              <a:t>C:\Users\toben\OneDrive\Documents\ChatGPT\Rojo\studio\VisualUpgrade.luau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Emaury Onyeneho</a:t>
            </a:r>
          </a:p>
          <a:p xmlns:a="http://schemas.openxmlformats.org/drawingml/2006/main">
            <a:r>
              <a:t>TIME: 40 seconds</a:t>
            </a:r>
          </a:p>
          <a:p xmlns:a="http://schemas.openxmlformats.org/drawingml/2006/main">
            <a:r>
              <a:t/>
            </a:r>
          </a:p>
          <a:p xmlns:a="http://schemas.openxmlformats.org/drawingml/2006/main">
            <a:r>
              <a:t>The HUD is the information displayed while playing. It shows the room objective, collected items, time, and stamina. The interface also includes hints, sound effects, and reduced-motion settings. This small code example sets the width of the stamina bar. A value of one means full width, and zero means empty. math.clamp keeps the value inside that range. The bar displays the server state, while the server decides the actual sprint speed. Tobenna will explain what testing revealed.</a:t>
            </a:r>
          </a:p>
          <a:p xmlns:a="http://schemas.openxmlformats.org/drawingml/2006/main">
            <a:r>
              <a:t/>
            </a:r>
          </a:p>
          <a:p xmlns:a="http://schemas.openxmlformats.org/drawingml/2006/main">
            <a:r>
              <a:t>PROJECT SOURCES</a:t>
            </a:r>
          </a:p>
          <a:p xmlns:a="http://schemas.openxmlformats.org/drawingml/2006/main">
            <a:r>
              <a:t>C:\Users\toben\OneDrive\Documents\ChatGPT\Rojo\src\client\UI.luau</a:t>
            </a:r>
          </a:p>
          <a:p xmlns:a="http://schemas.openxmlformats.org/drawingml/2006/main">
            <a:r>
              <a:t>C:\Users\toben\OneDrive\Documents\ChatGPT\Rojo\src\client\Main.client.luau</a:t>
            </a:r>
          </a:p>
          <a:p xmlns:a="http://schemas.openxmlformats.org/drawingml/2006/main">
            <a:r>
              <a:t>C:\Users\toben\OneDrive\Documents\ChatGPT\Rojo\src\server\Main.server.luau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Tobenna Uyanwune</a:t>
            </a:r>
          </a:p>
          <a:p xmlns:a="http://schemas.openxmlformats.org/drawingml/2006/main">
            <a:r>
              <a:t>TIME: 35 seconds</a:t>
            </a:r>
          </a:p>
          <a:p xmlns:a="http://schemas.openxmlformats.org/drawingml/2006/main">
            <a:r>
              <a:t/>
            </a:r>
          </a:p>
          <a:p xmlns:a="http://schemas.openxmlformats.org/drawingml/2006/main">
            <a:r>
              <a:t>Testing needs to check more than whether the game opens. The project ran one hundred seeded quiz tests to check question variety, answer positions, and the information sent to the client. Progression checks tested room requirements, and replay checks tested collectibles and session records. Patrol checks watched the professor complete routes without getting stuck. The interface also received desktop and phone simulator checks. These results are useful evidence, but they do not replace watching new players or testing on physical phones.</a:t>
            </a:r>
          </a:p>
          <a:p xmlns:a="http://schemas.openxmlformats.org/drawingml/2006/main">
            <a:r>
              <a:t/>
            </a:r>
          </a:p>
          <a:p xmlns:a="http://schemas.openxmlformats.org/drawingml/2006/main">
            <a:r>
              <a:t>PROJECT SOURCES</a:t>
            </a:r>
          </a:p>
          <a:p xmlns:a="http://schemas.openxmlformats.org/drawingml/2006/main">
            <a:r>
              <a:t>C:\Users\toben\OneDrive\Documents\ChatGPT\Rojo\CAMPUS_UPGRADE.md</a:t>
            </a:r>
          </a:p>
          <a:p xmlns:a="http://schemas.openxmlformats.org/drawingml/2006/main">
            <a:r>
              <a:t>C:\Users\toben\OneDrive\Documents\ChatGPT\Rojo\tests\StudioRegression.server.luau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Tobenna Uyanwune</a:t>
            </a:r>
          </a:p>
          <a:p xmlns:a="http://schemas.openxmlformats.org/drawingml/2006/main">
            <a:r>
              <a:t>TIME: 40 seconds</a:t>
            </a:r>
          </a:p>
          <a:p xmlns:a="http://schemas.openxmlformats.org/drawingml/2006/main">
            <a:r>
              <a:t/>
            </a:r>
          </a:p>
          <a:p xmlns:a="http://schemas.openxmlformats.org/drawingml/2006/main">
            <a:r>
              <a:t>One reported bug was that the professor stared at a wall instead of moving. A cause was the path calculation using a point near the body instead of the floor. That could produce a route onto cabinet tops. The fix puts the path endpoints at foot level. This function converts a position into course coordinates, sets its height to the floor, then converts it back to the world. The AI also keeps useful routes between updates and can recover if movement stalls. Later patrol tests completed without needing recovery.</a:t>
            </a:r>
          </a:p>
          <a:p xmlns:a="http://schemas.openxmlformats.org/drawingml/2006/main">
            <a:r>
              <a:t/>
            </a:r>
          </a:p>
          <a:p xmlns:a="http://schemas.openxmlformats.org/drawingml/2006/main">
            <a:r>
              <a:t>PROJECT SOURCES</a:t>
            </a:r>
          </a:p>
          <a:p xmlns:a="http://schemas.openxmlformats.org/drawingml/2006/main">
            <a:r>
              <a:t>C:\Users\toben\OneDrive\Documents\ChatGPT\Rojo\src\server\ProfessorAI.luau</a:t>
            </a:r>
          </a:p>
          <a:p xmlns:a="http://schemas.openxmlformats.org/drawingml/2006/main">
            <a:r>
              <a:t>C:\Users\toben\OneDrive\Documents\ChatGPT\Rojo\CHASE_UPGRADE.md</a:t>
            </a:r>
          </a:p>
          <a:p xmlns:a="http://schemas.openxmlformats.org/drawingml/2006/main">
            <a:r>
              <a:t>C:\Users\toben\OneDrive\Documents\ChatGPT\Rojo\CAMPUS_UPGRADE.md</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Tobenna Uyanwune</a:t>
            </a:r>
          </a:p>
          <a:p xmlns:a="http://schemas.openxmlformats.org/drawingml/2006/main">
            <a:r>
              <a:t>TIME: 35 seconds</a:t>
            </a:r>
          </a:p>
          <a:p xmlns:a="http://schemas.openxmlformats.org/drawingml/2006/main">
            <a:r>
              <a:t/>
            </a:r>
          </a:p>
          <a:p xmlns:a="http://schemas.openxmlformats.org/drawingml/2006/main">
            <a:r>
              <a:t>Another piece of feedback was that the ending felt too easy. The updated course uses alternating exam carts, three hurdles, and a professor who accelerates. The player gets a short head start and has to manage sprint stamina. In a controlled test, a timed sprint route escaped in 8.1 seconds, while a walking attempt got caught after 7.3 seconds. These are two different attempts, not average player scores. Newcomer playtests would help us judge whether the difficulty feels fair.</a:t>
            </a:r>
          </a:p>
          <a:p xmlns:a="http://schemas.openxmlformats.org/drawingml/2006/main">
            <a:r>
              <a:t/>
            </a:r>
          </a:p>
          <a:p xmlns:a="http://schemas.openxmlformats.org/drawingml/2006/main">
            <a:r>
              <a:t>PROJECT SOURCES</a:t>
            </a:r>
          </a:p>
          <a:p xmlns:a="http://schemas.openxmlformats.org/drawingml/2006/main">
            <a:r>
              <a:t>C:\Users\toben\OneDrive\Documents\ChatGPT\Rojo\src\shared\Config.luau</a:t>
            </a:r>
          </a:p>
          <a:p xmlns:a="http://schemas.openxmlformats.org/drawingml/2006/main">
            <a:r>
              <a:t>C:\Users\toben\OneDrive\Documents\ChatGPT\Rojo\studio\ChaseUpgrade.luau</a:t>
            </a:r>
          </a:p>
          <a:p xmlns:a="http://schemas.openxmlformats.org/drawingml/2006/main">
            <a:r>
              <a:t>C:\Users\toben\OneDrive\Documents\ChatGPT\Rojo\CAMPUS_UPGRADE.md</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Tobenna Uyanwune</a:t>
            </a:r>
          </a:p>
          <a:p xmlns:a="http://schemas.openxmlformats.org/drawingml/2006/main">
            <a:r>
              <a:t>TIME: 35 seconds</a:t>
            </a:r>
          </a:p>
          <a:p xmlns:a="http://schemas.openxmlformats.org/drawingml/2006/main">
            <a:r>
              <a:t/>
            </a:r>
          </a:p>
          <a:p xmlns:a="http://schemas.openxmlformats.org/drawingml/2006/main">
            <a:r>
              <a:t>For our short demo, we will start the game, point out the objective and stamina bar, and collect one homework sheet. The full game takes longer than this presentation, so the screenshots show the later rooms. Our main lesson is that rules, visuals, and testing all affect how a game feels. A pathfinding bug can stop a chase even when the character looks finished. Next, we would test with more new players and on real phones and controllers. Thank you. We are ready for questions.</a:t>
            </a:r>
          </a:p>
          <a:p xmlns:a="http://schemas.openxmlformats.org/drawingml/2006/main">
            <a:r>
              <a:t/>
            </a:r>
          </a:p>
          <a:p xmlns:a="http://schemas.openxmlformats.org/drawingml/2006/main">
            <a:r>
              <a:t>PROJECT SOURCES</a:t>
            </a:r>
          </a:p>
          <a:p xmlns:a="http://schemas.openxmlformats.org/drawingml/2006/main">
            <a:r>
              <a:t>C:\Users\toben\OneDrive\Documents\ChatGPT\Rojo\CAMPUS_UPGRADE.md</a:t>
            </a:r>
          </a:p>
          <a:p xmlns:a="http://schemas.openxmlformats.org/drawingml/2006/main">
            <a:r>
              <a:t>C:\Users\toben\OneDrive\Documents\ChatGPT\Rojo\PUBLISH_STATUS.md</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presenters</a:t>
            </a:r>
          </a:p>
          <a:p xmlns:a="http://schemas.openxmlformats.org/drawingml/2006/main">
            <a:r>
              <a:t>TIME: Reference only, skip during main talk</a:t>
            </a:r>
          </a:p>
          <a:p xmlns:a="http://schemas.openxmlformats.org/drawingml/2006/main">
            <a:r>
              <a:t/>
            </a:r>
          </a:p>
          <a:p xmlns:a="http://schemas.openxmlformats.org/drawingml/2006/main">
            <a:r>
              <a:t>Reference for questions. The companion ZIP contains all production source files, edit-time map recipes, a regression script, the Rojo configuration, and the complete saved place. Do not run the test script in the published game. A scripts-only Rojo build does not include the map. The role assignments describe presentation and maintenance responsibilities, not an assertion of who originally typed each line.</a:t>
            </a:r>
          </a:p>
          <a:p xmlns:a="http://schemas.openxmlformats.org/drawingml/2006/main">
            <a:r>
              <a:t/>
            </a:r>
          </a:p>
          <a:p xmlns:a="http://schemas.openxmlformats.org/drawingml/2006/main">
            <a:r>
              <a:t>PROJECT SOURCES</a:t>
            </a:r>
          </a:p>
          <a:p xmlns:a="http://schemas.openxmlformats.org/drawingml/2006/main">
            <a:r>
              <a:t>C:\Users\toben\OneDrive\Documents\ChatGPT\Rojo\default.project.json</a:t>
            </a:r>
          </a:p>
          <a:p xmlns:a="http://schemas.openxmlformats.org/drawingml/2006/main">
            <a:r>
              <a:t>C:\Users\toben\OneDrive\Documents\ChatGPT\Rojo\WORKFLOW.md</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Emaury Onyeneho</a:t>
            </a:r>
          </a:p>
          <a:p xmlns:a="http://schemas.openxmlformats.org/drawingml/2006/main">
            <a:r>
              <a:t>TIME: Reference only, skip during main talk</a:t>
            </a:r>
          </a:p>
          <a:p xmlns:a="http://schemas.openxmlformats.org/drawingml/2006/main">
            <a:r>
              <a:t/>
            </a:r>
          </a:p>
          <a:p xmlns:a="http://schemas.openxmlformats.org/drawingml/2006/main">
            <a:r>
              <a:t>This is the actual stamina display expression from Main.client.luau, expanded for readability. UDim2.fromScale uses a fraction of the parent size. The first value sets width and the second sets height. math.clamp limits stamina to the interval zero through one. The or 1 expression provides a full bar if no stamina value is available yet. This is display code. Server/Main.server.luau drains and recovers stamina and sets Humanoid.WalkSpeed.</a:t>
            </a:r>
          </a:p>
          <a:p xmlns:a="http://schemas.openxmlformats.org/drawingml/2006/main">
            <a:r>
              <a:t/>
            </a:r>
          </a:p>
          <a:p xmlns:a="http://schemas.openxmlformats.org/drawingml/2006/main">
            <a:r>
              <a:t>PROJECT SOURCES</a:t>
            </a:r>
          </a:p>
          <a:p xmlns:a="http://schemas.openxmlformats.org/drawingml/2006/main">
            <a:r>
              <a:t>C:\Users\toben\OneDrive\Documents\ChatGPT\Rojo\src\client\Main.client.luau</a:t>
            </a:r>
          </a:p>
          <a:p xmlns:a="http://schemas.openxmlformats.org/drawingml/2006/main">
            <a:r>
              <a:t>C:\Users\toben\OneDrive\Documents\ChatGPT\Rojo\src\server\Main.server.luau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James Hunter</a:t>
            </a:r>
          </a:p>
          <a:p xmlns:a="http://schemas.openxmlformats.org/drawingml/2006/main">
            <a:r>
              <a:t>TIME: Reference only, skip during main talk</a:t>
            </a:r>
          </a:p>
          <a:p xmlns:a="http://schemas.openxmlformats.org/drawingml/2006/main">
            <a:r>
              <a:t/>
            </a:r>
          </a:p>
          <a:p xmlns:a="http://schemas.openxmlformats.org/drawingml/2006/main">
            <a:r>
              <a:t>This excerpt shows the successful-answer branch from Interactions.luau. The server compares the submitted button index with question.Correct. It increases the number of correct answers, sets a short cooldown, and pushes the new state to the player. The complete function also checks the player stage, distance to the board, answer type, allowed index, and timing. Quiz.View sends only the visible question, answer choices, index, total, and subject. It does not send the correct answer before the player responds.</a:t>
            </a:r>
          </a:p>
          <a:p xmlns:a="http://schemas.openxmlformats.org/drawingml/2006/main">
            <a:r>
              <a:t/>
            </a:r>
          </a:p>
          <a:p xmlns:a="http://schemas.openxmlformats.org/drawingml/2006/main">
            <a:r>
              <a:t>PROJECT SOURCES</a:t>
            </a:r>
          </a:p>
          <a:p xmlns:a="http://schemas.openxmlformats.org/drawingml/2006/main">
            <a:r>
              <a:t>C:\Users\toben\OneDrive\Documents\ChatGPT\Rojo\src\server\Interactions.luau</a:t>
            </a:r>
          </a:p>
          <a:p xmlns:a="http://schemas.openxmlformats.org/drawingml/2006/main">
            <a:r>
              <a:t>C:\Users\toben\OneDrive\Documents\ChatGPT\Rojo\src\server\Quiz.luau</a:t>
            </a:r>
          </a:p>
          <a:p xmlns:a="http://schemas.openxmlformats.org/drawingml/2006/main">
            <a:r>
              <a:t>Screenshots show the local Campus Upgrade game. Camera framing is staged for clarity.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f3b2fc953d4f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1e1154319b4f2e" /><Relationship Type="http://schemas.openxmlformats.org/officeDocument/2006/relationships/slideLayout" Target="/ppt/slideLayouts/slideLayout1.xml" Id="R572355aabd5d4c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2355aabd5d4c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a30b3beeef4f5d" /><Relationship Type="http://schemas.openxmlformats.org/officeDocument/2006/relationships/image" Target="/ppt/media/image.jpeg" Id="R840dd7e4d5114332" /><Relationship Type="http://schemas.openxmlformats.org/officeDocument/2006/relationships/notesSlide" Target="/ppt/notesSlides/notesSlide1.xml" Id="R60bf5cba3d354f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e5f08241374124" /><Relationship Type="http://schemas.openxmlformats.org/officeDocument/2006/relationships/notesSlide" Target="/ppt/notesSlides/notesSlide2.xml" Id="Rfd2058a980474b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3de483a784069" /><Relationship Type="http://schemas.openxmlformats.org/officeDocument/2006/relationships/image" Target="/ppt/media/image2.jpeg" Id="R0ce8b7e45c474781" /><Relationship Type="http://schemas.openxmlformats.org/officeDocument/2006/relationships/notesSlide" Target="/ppt/notesSlides/notesSlide3.xml" Id="Rd67faf5fa6f6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cebc634a08432c" /><Relationship Type="http://schemas.openxmlformats.org/officeDocument/2006/relationships/notesSlide" Target="/ppt/notesSlides/notesSlide4.xml" Id="R42b7c1e5c60942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9bacb87c184224" /><Relationship Type="http://schemas.openxmlformats.org/officeDocument/2006/relationships/notesSlide" Target="/ppt/notesSlides/notesSlide5.xml" Id="R4b3353d154b14e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654e81e97e4eed" /><Relationship Type="http://schemas.openxmlformats.org/officeDocument/2006/relationships/notesSlide" Target="/ppt/notesSlides/notesSlide6.xml" Id="R853ef5048fac46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4bc7549c2c41ca" /><Relationship Type="http://schemas.openxmlformats.org/officeDocument/2006/relationships/notesSlide" Target="/ppt/notesSlides/notesSlide7.xml" Id="R8a7104f62d8a4e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d4368587d341ee" /><Relationship Type="http://schemas.openxmlformats.org/officeDocument/2006/relationships/image" Target="/ppt/media/image3.jpeg" Id="R23b05addd93b42d1" /><Relationship Type="http://schemas.openxmlformats.org/officeDocument/2006/relationships/notesSlide" Target="/ppt/notesSlides/notesSlide8.xml" Id="Rd863435ff10844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ecda6456e74ea3" /><Relationship Type="http://schemas.openxmlformats.org/officeDocument/2006/relationships/image" Target="/ppt/media/image4.jpeg" Id="R0372765246424040" /><Relationship Type="http://schemas.openxmlformats.org/officeDocument/2006/relationships/notesSlide" Target="/ppt/notesSlides/notesSlide9.xml" Id="Rbcc6e1dd89234c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0022a5bcca4d66" /><Relationship Type="http://schemas.openxmlformats.org/officeDocument/2006/relationships/image" Target="/ppt/media/image5.jpeg" Id="Rd9a51abe3a194431" /><Relationship Type="http://schemas.openxmlformats.org/officeDocument/2006/relationships/notesSlide" Target="/ppt/notesSlides/notesSlide10.xml" Id="R4622338c5af542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bef1f0b45b42ef" /><Relationship Type="http://schemas.openxmlformats.org/officeDocument/2006/relationships/notesSlide" Target="/ppt/notesSlides/notesSlide11.xml" Id="R7b32068f767144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6e69d15045417a" /><Relationship Type="http://schemas.openxmlformats.org/officeDocument/2006/relationships/notesSlide" Target="/ppt/notesSlides/notesSlide12.xml" Id="R4ac8bab690d949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b3ca5fa2bc4731" /><Relationship Type="http://schemas.openxmlformats.org/officeDocument/2006/relationships/image" Target="/ppt/media/image6.jpeg" Id="Re5a581eb6d4b45cc" /><Relationship Type="http://schemas.openxmlformats.org/officeDocument/2006/relationships/notesSlide" Target="/ppt/notesSlides/notesSlide13.xml" Id="R817935c2c77443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94297cfcae2440f" /><Relationship Type="http://schemas.openxmlformats.org/officeDocument/2006/relationships/image" Target="/ppt/media/image7.jpeg" Id="R7cf598bdac5640d4" /><Relationship Type="http://schemas.openxmlformats.org/officeDocument/2006/relationships/hyperlink" Target="https://www.roblox.com/games/129658265022575/" TargetMode="External" Id="Rc14ee8a320424f64" /><Relationship Type="http://schemas.openxmlformats.org/officeDocument/2006/relationships/notesSlide" Target="/ppt/notesSlides/notesSlide14.xml" Id="R550a933245b246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5acae49e4a4be8" /><Relationship Type="http://schemas.openxmlformats.org/officeDocument/2006/relationships/notesSlide" Target="/ppt/notesSlides/notesSlide15.xml" Id="Rf6db54fe35bc46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8aeadbf87847bb" /><Relationship Type="http://schemas.openxmlformats.org/officeDocument/2006/relationships/notesSlide" Target="/ppt/notesSlides/notesSlide16.xml" Id="Rdb2ca302ca074d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6827d2e7bf4130" /><Relationship Type="http://schemas.openxmlformats.org/officeDocument/2006/relationships/notesSlide" Target="/ppt/notesSlides/notesSlide17.xml" Id="R286a193a4f5c4ccf" /></Relationships>
</file>

<file path=ppt/slides/slide1.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40dd7e4d5114332"/>
          <a:srcRect xmlns:a="http://schemas.openxmlformats.org/drawingml/2006/main" l="16704" t="0" r="16704" b="0"/>
          <a:stretch xmlns:a="http://schemas.openxmlformats.org/drawingml/2006/main">
            <a:fillRect l="0" t="0" r="0" b="0"/>
          </a:stretch>
        </p:blipFill>
        <p:spPr>
          <a:xfrm xmlns:a="http://schemas.openxmlformats.org/drawingml/2006/main">
            <a:off x="5619750" y="0"/>
            <a:ext cx="657225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DDFCB763-8881-42D8-8AA6-C29695DE8CC7}"/>
              </a:ext>
            </a:extLst>
          </p:cNvPr>
          <p:cNvSpPr>
            <a:spLocks xmlns:a="http://schemas.openxmlformats.org/drawingml/2006/main" noGrp="1"/>
          </p:cNvSpPr>
          <p:nvPr/>
        </p:nvSpPr>
        <p:spPr>
          <a:xfrm xmlns:a="http://schemas.openxmlformats.org/drawingml/2006/main">
            <a:off x="514350" y="5524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FFD04A"/>
                </a:solidFill>
                <a:latin typeface="Arial"/>
                <a:ea typeface="Arial"/>
                <a:cs typeface="Arial"/>
              </a:defRPr>
            </a:pPr>
            <a:r>
              <a:rPr sz="1425" b="1">
                <a:solidFill>
                  <a:srgbClr val="FFD04A"/>
                </a:solidFill>
                <a:latin typeface="Arial"/>
                <a:ea typeface="Arial"/>
                <a:cs typeface="Arial"/>
              </a:rPr>
              <a:t>A ROBLOX GAME PROJECT</a:t>
            </a:r>
          </a:p>
        </p:txBody>
      </p:sp>
      <p:sp>
        <p:nvSpPr>
          <p:cNvPr id="3" name="text-1">
            <a:extLst xmlns:a="http://schemas.openxmlformats.org/drawingml/2006/main">
              <a:ext uri="{FF2B5EF4-FFF2-40B4-BE49-F238E27FC236}">
                <a16:creationId xmlns:a16="http://schemas.microsoft.com/office/drawing/2014/main" id="{781D3D0A-FDD5-4B59-9FFA-2D4FC23877DF}"/>
              </a:ext>
            </a:extLst>
          </p:cNvPr>
          <p:cNvSpPr>
            <a:spLocks xmlns:a="http://schemas.openxmlformats.org/drawingml/2006/main" noGrp="1"/>
          </p:cNvSpPr>
          <p:nvPr/>
        </p:nvSpPr>
        <p:spPr>
          <a:xfrm xmlns:a="http://schemas.openxmlformats.org/drawingml/2006/main">
            <a:off x="514350" y="131445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F6F2E7"/>
                </a:solidFill>
                <a:latin typeface="Arial"/>
                <a:ea typeface="Arial"/>
                <a:cs typeface="Arial"/>
              </a:defRPr>
            </a:pPr>
            <a:r>
              <a:rPr sz="4275" b="1">
                <a:solidFill>
                  <a:srgbClr val="F6F2E7"/>
                </a:solidFill>
                <a:latin typeface="Arial"/>
                <a:ea typeface="Arial"/>
                <a:cs typeface="Arial"/>
              </a:rPr>
              <a:t>ESCAPE THE</a:t>
            </a:r>
          </a:p>
          <a:p xmlns:a="http://schemas.openxmlformats.org/drawingml/2006/main">
            <a:pPr>
              <a:defRPr sz="4275" b="1">
                <a:solidFill>
                  <a:srgbClr val="F6F2E7"/>
                </a:solidFill>
                <a:latin typeface="Arial"/>
                <a:ea typeface="Arial"/>
                <a:cs typeface="Arial"/>
              </a:defRPr>
            </a:pPr>
            <a:r>
              <a:rPr sz="4275" b="1">
                <a:solidFill>
                  <a:srgbClr val="F6F2E7"/>
                </a:solidFill>
                <a:latin typeface="Arial"/>
                <a:ea typeface="Arial"/>
                <a:cs typeface="Arial"/>
              </a:rPr>
              <a:t>PROFESSOR!</a:t>
            </a:r>
          </a:p>
        </p:txBody>
      </p:sp>
      <p:sp>
        <p:nvSpPr>
          <p:cNvPr id="4" name="text-2">
            <a:extLst xmlns:a="http://schemas.openxmlformats.org/drawingml/2006/main">
              <a:ext uri="{FF2B5EF4-FFF2-40B4-BE49-F238E27FC236}">
                <a16:creationId xmlns:a16="http://schemas.microsoft.com/office/drawing/2014/main" id="{35EF16FB-DEBC-49BD-B091-669F0B80A8B5}"/>
              </a:ext>
            </a:extLst>
          </p:cNvPr>
          <p:cNvSpPr>
            <a:spLocks xmlns:a="http://schemas.openxmlformats.org/drawingml/2006/main" noGrp="1"/>
          </p:cNvSpPr>
          <p:nvPr/>
        </p:nvSpPr>
        <p:spPr>
          <a:xfrm xmlns:a="http://schemas.openxmlformats.org/drawingml/2006/main">
            <a:off x="533400" y="3105150"/>
            <a:ext cx="4705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AFCBD1"/>
                </a:solidFill>
                <a:latin typeface="Arial"/>
                <a:ea typeface="Arial"/>
                <a:cs typeface="Arial"/>
              </a:defRPr>
            </a:pPr>
            <a:r>
              <a:rPr sz="2175" b="0">
                <a:solidFill>
                  <a:srgbClr val="AFCBD1"/>
                </a:solidFill>
                <a:latin typeface="Arial"/>
                <a:ea typeface="Arial"/>
                <a:cs typeface="Arial"/>
              </a:rPr>
              <a:t>A school escape game with</a:t>
            </a:r>
          </a:p>
          <a:p xmlns:a="http://schemas.openxmlformats.org/drawingml/2006/main">
            <a:pPr>
              <a:defRPr sz="2175" b="0">
                <a:solidFill>
                  <a:srgbClr val="AFCBD1"/>
                </a:solidFill>
                <a:latin typeface="Arial"/>
                <a:ea typeface="Arial"/>
                <a:cs typeface="Arial"/>
              </a:defRPr>
            </a:pPr>
            <a:r>
              <a:rPr sz="2175" b="0">
                <a:solidFill>
                  <a:srgbClr val="AFCBD1"/>
                </a:solidFill>
                <a:latin typeface="Arial"/>
                <a:ea typeface="Arial"/>
                <a:cs typeface="Arial"/>
              </a:rPr>
              <a:t>obstacles, quizzes, and a chase.</a:t>
            </a:r>
          </a:p>
        </p:txBody>
      </p:sp>
      <p:sp>
        <p:nvSpPr>
          <p:cNvPr id="5" name="text-3">
            <a:extLst xmlns:a="http://schemas.openxmlformats.org/drawingml/2006/main">
              <a:ext uri="{FF2B5EF4-FFF2-40B4-BE49-F238E27FC236}">
                <a16:creationId xmlns:a16="http://schemas.microsoft.com/office/drawing/2014/main" id="{E865B21A-4B7B-4A6E-A874-0A3DF7287C61}"/>
              </a:ext>
            </a:extLst>
          </p:cNvPr>
          <p:cNvSpPr>
            <a:spLocks xmlns:a="http://schemas.openxmlformats.org/drawingml/2006/main" noGrp="1"/>
          </p:cNvSpPr>
          <p:nvPr/>
        </p:nvSpPr>
        <p:spPr>
          <a:xfrm xmlns:a="http://schemas.openxmlformats.org/drawingml/2006/main">
            <a:off x="533400" y="455295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6F2E7"/>
                </a:solidFill>
                <a:latin typeface="Arial"/>
                <a:ea typeface="Arial"/>
                <a:cs typeface="Arial"/>
              </a:defRPr>
            </a:pPr>
            <a:r>
              <a:rPr sz="1875" b="0">
                <a:solidFill>
                  <a:srgbClr val="F6F2E7"/>
                </a:solidFill>
                <a:latin typeface="Arial"/>
                <a:ea typeface="Arial"/>
                <a:cs typeface="Arial"/>
              </a:rPr>
              <a:t>Peace Funso-Ore</a:t>
            </a:r>
          </a:p>
          <a:p xmlns:a="http://schemas.openxmlformats.org/drawingml/2006/main">
            <a:pPr>
              <a:defRPr sz="1875" b="0">
                <a:solidFill>
                  <a:srgbClr val="F6F2E7"/>
                </a:solidFill>
                <a:latin typeface="Arial"/>
                <a:ea typeface="Arial"/>
                <a:cs typeface="Arial"/>
              </a:defRPr>
            </a:pPr>
            <a:r>
              <a:rPr sz="1875" b="0">
                <a:solidFill>
                  <a:srgbClr val="F6F2E7"/>
                </a:solidFill>
                <a:latin typeface="Arial"/>
                <a:ea typeface="Arial"/>
                <a:cs typeface="Arial"/>
              </a:rPr>
              <a:t>James Hunter</a:t>
            </a:r>
          </a:p>
          <a:p xmlns:a="http://schemas.openxmlformats.org/drawingml/2006/main">
            <a:pPr>
              <a:defRPr sz="1875" b="0">
                <a:solidFill>
                  <a:srgbClr val="F6F2E7"/>
                </a:solidFill>
                <a:latin typeface="Arial"/>
                <a:ea typeface="Arial"/>
                <a:cs typeface="Arial"/>
              </a:defRPr>
            </a:pPr>
            <a:r>
              <a:rPr sz="1875" b="0">
                <a:solidFill>
                  <a:srgbClr val="F6F2E7"/>
                </a:solidFill>
                <a:latin typeface="Arial"/>
                <a:ea typeface="Arial"/>
                <a:cs typeface="Arial"/>
              </a:rPr>
              <a:t>Emaury Onyeneho</a:t>
            </a:r>
          </a:p>
          <a:p xmlns:a="http://schemas.openxmlformats.org/drawingml/2006/main">
            <a:pPr>
              <a:defRPr sz="1875" b="0">
                <a:solidFill>
                  <a:srgbClr val="F6F2E7"/>
                </a:solidFill>
                <a:latin typeface="Arial"/>
                <a:ea typeface="Arial"/>
                <a:cs typeface="Arial"/>
              </a:defRPr>
            </a:pPr>
            <a:r>
              <a:rPr sz="1875" b="0">
                <a:solidFill>
                  <a:srgbClr val="F6F2E7"/>
                </a:solidFill>
                <a:latin typeface="Arial"/>
                <a:ea typeface="Arial"/>
                <a:cs typeface="Arial"/>
              </a:rPr>
              <a:t>Tobenna Uyanwune</a:t>
            </a:r>
          </a:p>
        </p:txBody>
      </p:sp>
      <p:sp>
        <p:nvSpPr>
          <p:cNvPr id="6" name="text-4">
            <a:extLst xmlns:a="http://schemas.openxmlformats.org/drawingml/2006/main">
              <a:ext uri="{FF2B5EF4-FFF2-40B4-BE49-F238E27FC236}">
                <a16:creationId xmlns:a16="http://schemas.microsoft.com/office/drawing/2014/main" id="{5255050D-8251-4D56-A0E1-544D96297FFD}"/>
              </a:ext>
            </a:extLst>
          </p:cNvPr>
          <p:cNvSpPr>
            <a:spLocks xmlns:a="http://schemas.openxmlformats.org/drawingml/2006/main" noGrp="1"/>
          </p:cNvSpPr>
          <p:nvPr/>
        </p:nvSpPr>
        <p:spPr>
          <a:xfrm xmlns:a="http://schemas.openxmlformats.org/drawingml/2006/main">
            <a:off x="533400" y="6457950"/>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D04A"/>
                </a:solidFill>
                <a:latin typeface="Arial"/>
                <a:ea typeface="Arial"/>
                <a:cs typeface="Arial"/>
              </a:defRPr>
            </a:pPr>
            <a:r>
              <a:rPr sz="1200" b="1">
                <a:solidFill>
                  <a:srgbClr val="FFD04A"/>
                </a:solidFill>
                <a:latin typeface="Arial"/>
                <a:ea typeface="Arial"/>
                <a:cs typeface="Arial"/>
              </a:rPr>
              <a:t>CLASS PRESENTATION / OCTOBER 5, 2026</a:t>
            </a:r>
          </a:p>
        </p:txBody>
      </p:sp>
    </p:spTree>
    <p:extLst>
      <p:ext uri="{BB962C8B-B14F-4D97-AF65-F5344CB8AC3E}">
        <p14:creationId xmlns:p14="http://schemas.microsoft.com/office/powerpoint/2010/main" val="1000878285"/>
      </p:ext>
    </p:extLst>
  </p:cSld>
</p:sld>
</file>

<file path=ppt/slides/slide2.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D7B0EEE3-768B-4696-98C1-FB02AC0581F1}"/>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76F3DED4-CFE2-4A91-B316-289DE158D179}"/>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Our assigned project roles</a:t>
            </a:r>
          </a:p>
        </p:txBody>
      </p:sp>
      <p:sp>
        <p:nvSpPr>
          <p:cNvPr id="3" name="text-2">
            <a:extLst xmlns:a="http://schemas.openxmlformats.org/drawingml/2006/main">
              <a:ext uri="{FF2B5EF4-FFF2-40B4-BE49-F238E27FC236}">
                <a16:creationId xmlns:a16="http://schemas.microsoft.com/office/drawing/2014/main" id="{F43E8EEC-9CAD-440F-8C81-646D76463FFF}"/>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Peace Funso-Ore</a:t>
            </a:r>
          </a:p>
        </p:txBody>
      </p:sp>
      <p:sp>
        <p:nvSpPr>
          <p:cNvPr id="4" name="text-3">
            <a:extLst xmlns:a="http://schemas.openxmlformats.org/drawingml/2006/main">
              <a:ext uri="{FF2B5EF4-FFF2-40B4-BE49-F238E27FC236}">
                <a16:creationId xmlns:a16="http://schemas.microsoft.com/office/drawing/2014/main" id="{DEDEFE78-4006-43AD-8D48-367D7C41E847}"/>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2F364741-474D-4755-B040-518A9F366ECC}"/>
              </a:ext>
            </a:extLst>
          </p:cNvPr>
          <p:cNvSpPr>
            <a:spLocks xmlns:a="http://schemas.openxmlformats.org/drawingml/2006/main" noGrp="1"/>
          </p:cNvSpPr>
          <p:nvPr/>
        </p:nvSpPr>
        <p:spPr>
          <a:xfrm xmlns:a="http://schemas.openxmlformats.org/drawingml/2006/main">
            <a:off x="533400" y="20669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Peace Funso-Ore</a:t>
            </a:r>
          </a:p>
        </p:txBody>
      </p:sp>
      <p:sp>
        <p:nvSpPr>
          <p:cNvPr id="6" name="text-5">
            <a:extLst xmlns:a="http://schemas.openxmlformats.org/drawingml/2006/main">
              <a:ext uri="{FF2B5EF4-FFF2-40B4-BE49-F238E27FC236}">
                <a16:creationId xmlns:a16="http://schemas.microsoft.com/office/drawing/2014/main" id="{1480FF2D-7D01-45CA-9419-1E3261957111}"/>
              </a:ext>
            </a:extLst>
          </p:cNvPr>
          <p:cNvSpPr>
            <a:spLocks xmlns:a="http://schemas.openxmlformats.org/drawingml/2006/main" noGrp="1"/>
          </p:cNvSpPr>
          <p:nvPr/>
        </p:nvSpPr>
        <p:spPr>
          <a:xfrm xmlns:a="http://schemas.openxmlformats.org/drawingml/2006/main">
            <a:off x="4210050" y="20669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7F88"/>
                </a:solidFill>
                <a:latin typeface="Arial"/>
                <a:ea typeface="Arial"/>
                <a:cs typeface="Arial"/>
              </a:defRPr>
            </a:pPr>
            <a:r>
              <a:rPr sz="2100" b="1">
                <a:solidFill>
                  <a:srgbClr val="177F88"/>
                </a:solidFill>
                <a:latin typeface="Arial"/>
                <a:ea typeface="Arial"/>
                <a:cs typeface="Arial"/>
              </a:rPr>
              <a:t>Game design</a:t>
            </a:r>
          </a:p>
        </p:txBody>
      </p:sp>
      <p:sp>
        <p:nvSpPr>
          <p:cNvPr id="7" name="text-6">
            <a:extLst xmlns:a="http://schemas.openxmlformats.org/drawingml/2006/main">
              <a:ext uri="{FF2B5EF4-FFF2-40B4-BE49-F238E27FC236}">
                <a16:creationId xmlns:a16="http://schemas.microsoft.com/office/drawing/2014/main" id="{BB074A99-4778-4BD7-94D3-3C96CFC48D96}"/>
              </a:ext>
            </a:extLst>
          </p:cNvPr>
          <p:cNvSpPr>
            <a:spLocks xmlns:a="http://schemas.openxmlformats.org/drawingml/2006/main" noGrp="1"/>
          </p:cNvSpPr>
          <p:nvPr/>
        </p:nvSpPr>
        <p:spPr>
          <a:xfrm xmlns:a="http://schemas.openxmlformats.org/drawingml/2006/main">
            <a:off x="4210050" y="2457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42"/>
                </a:solidFill>
                <a:latin typeface="Arial"/>
                <a:ea typeface="Arial"/>
                <a:cs typeface="Arial"/>
              </a:defRPr>
            </a:pPr>
            <a:r>
              <a:rPr sz="1875" b="0">
                <a:solidFill>
                  <a:srgbClr val="172E42"/>
                </a:solidFill>
                <a:latin typeface="Arial"/>
                <a:ea typeface="Arial"/>
                <a:cs typeface="Arial"/>
              </a:rPr>
              <a:t>Rules, room order, checkpoints</a:t>
            </a:r>
          </a:p>
        </p:txBody>
      </p:sp>
      <p:sp>
        <p:nvSpPr>
          <p:cNvPr id="8" name="text-7">
            <a:extLst xmlns:a="http://schemas.openxmlformats.org/drawingml/2006/main">
              <a:ext uri="{FF2B5EF4-FFF2-40B4-BE49-F238E27FC236}">
                <a16:creationId xmlns:a16="http://schemas.microsoft.com/office/drawing/2014/main" id="{27C70359-1F0F-4AA8-84DA-0B2131ECD313}"/>
              </a:ext>
            </a:extLst>
          </p:cNvPr>
          <p:cNvSpPr>
            <a:spLocks xmlns:a="http://schemas.openxmlformats.org/drawingml/2006/main" noGrp="1"/>
          </p:cNvSpPr>
          <p:nvPr/>
        </p:nvSpPr>
        <p:spPr>
          <a:xfrm xmlns:a="http://schemas.openxmlformats.org/drawingml/2006/main">
            <a:off x="533400" y="30194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James Hunter</a:t>
            </a:r>
          </a:p>
        </p:txBody>
      </p:sp>
      <p:sp>
        <p:nvSpPr>
          <p:cNvPr id="9" name="text-8">
            <a:extLst xmlns:a="http://schemas.openxmlformats.org/drawingml/2006/main">
              <a:ext uri="{FF2B5EF4-FFF2-40B4-BE49-F238E27FC236}">
                <a16:creationId xmlns:a16="http://schemas.microsoft.com/office/drawing/2014/main" id="{91ACBD62-CF5F-4884-914E-9B7DE3277FA9}"/>
              </a:ext>
            </a:extLst>
          </p:cNvPr>
          <p:cNvSpPr>
            <a:spLocks xmlns:a="http://schemas.openxmlformats.org/drawingml/2006/main" noGrp="1"/>
          </p:cNvSpPr>
          <p:nvPr/>
        </p:nvSpPr>
        <p:spPr>
          <a:xfrm xmlns:a="http://schemas.openxmlformats.org/drawingml/2006/main">
            <a:off x="4210050" y="30194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7F88"/>
                </a:solidFill>
                <a:latin typeface="Arial"/>
                <a:ea typeface="Arial"/>
                <a:cs typeface="Arial"/>
              </a:defRPr>
            </a:pPr>
            <a:r>
              <a:rPr sz="2100" b="1">
                <a:solidFill>
                  <a:srgbClr val="177F88"/>
                </a:solidFill>
                <a:latin typeface="Arial"/>
                <a:ea typeface="Arial"/>
                <a:cs typeface="Arial"/>
              </a:rPr>
              <a:t>Programming</a:t>
            </a:r>
          </a:p>
        </p:txBody>
      </p:sp>
      <p:sp>
        <p:nvSpPr>
          <p:cNvPr id="10" name="text-9">
            <a:extLst xmlns:a="http://schemas.openxmlformats.org/drawingml/2006/main">
              <a:ext uri="{FF2B5EF4-FFF2-40B4-BE49-F238E27FC236}">
                <a16:creationId xmlns:a16="http://schemas.microsoft.com/office/drawing/2014/main" id="{D4812A21-BEC5-4177-A7F0-86749D6A608B}"/>
              </a:ext>
            </a:extLst>
          </p:cNvPr>
          <p:cNvSpPr>
            <a:spLocks xmlns:a="http://schemas.openxmlformats.org/drawingml/2006/main" noGrp="1"/>
          </p:cNvSpPr>
          <p:nvPr/>
        </p:nvSpPr>
        <p:spPr>
          <a:xfrm xmlns:a="http://schemas.openxmlformats.org/drawingml/2006/main">
            <a:off x="4210050" y="34099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42"/>
                </a:solidFill>
                <a:latin typeface="Arial"/>
                <a:ea typeface="Arial"/>
                <a:cs typeface="Arial"/>
              </a:defRPr>
            </a:pPr>
            <a:r>
              <a:rPr sz="1875" b="0">
                <a:solidFill>
                  <a:srgbClr val="172E42"/>
                </a:solidFill>
                <a:latin typeface="Arial"/>
                <a:ea typeface="Arial"/>
                <a:cs typeface="Arial"/>
              </a:rPr>
              <a:t>Luau, progression, quiz logic</a:t>
            </a:r>
          </a:p>
        </p:txBody>
      </p:sp>
      <p:sp>
        <p:nvSpPr>
          <p:cNvPr id="11" name="text-10">
            <a:extLst xmlns:a="http://schemas.openxmlformats.org/drawingml/2006/main">
              <a:ext uri="{FF2B5EF4-FFF2-40B4-BE49-F238E27FC236}">
                <a16:creationId xmlns:a16="http://schemas.microsoft.com/office/drawing/2014/main" id="{58AA5740-BA33-4713-9E6E-E2635B25419C}"/>
              </a:ext>
            </a:extLst>
          </p:cNvPr>
          <p:cNvSpPr>
            <a:spLocks xmlns:a="http://schemas.openxmlformats.org/drawingml/2006/main" noGrp="1"/>
          </p:cNvSpPr>
          <p:nvPr/>
        </p:nvSpPr>
        <p:spPr>
          <a:xfrm xmlns:a="http://schemas.openxmlformats.org/drawingml/2006/main">
            <a:off x="533400" y="39719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Emaury Onyeneho</a:t>
            </a:r>
          </a:p>
        </p:txBody>
      </p:sp>
      <p:sp>
        <p:nvSpPr>
          <p:cNvPr id="12" name="text-11">
            <a:extLst xmlns:a="http://schemas.openxmlformats.org/drawingml/2006/main">
              <a:ext uri="{FF2B5EF4-FFF2-40B4-BE49-F238E27FC236}">
                <a16:creationId xmlns:a16="http://schemas.microsoft.com/office/drawing/2014/main" id="{8A35C474-0AB6-4A1A-9ADF-C6A6321062F6}"/>
              </a:ext>
            </a:extLst>
          </p:cNvPr>
          <p:cNvSpPr>
            <a:spLocks xmlns:a="http://schemas.openxmlformats.org/drawingml/2006/main" noGrp="1"/>
          </p:cNvSpPr>
          <p:nvPr/>
        </p:nvSpPr>
        <p:spPr>
          <a:xfrm xmlns:a="http://schemas.openxmlformats.org/drawingml/2006/main">
            <a:off x="4210050" y="39719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7F88"/>
                </a:solidFill>
                <a:latin typeface="Arial"/>
                <a:ea typeface="Arial"/>
                <a:cs typeface="Arial"/>
              </a:defRPr>
            </a:pPr>
            <a:r>
              <a:rPr sz="2100" b="1">
                <a:solidFill>
                  <a:srgbClr val="177F88"/>
                </a:solidFill>
                <a:latin typeface="Arial"/>
                <a:ea typeface="Arial"/>
                <a:cs typeface="Arial"/>
              </a:rPr>
              <a:t>Visuals and interface</a:t>
            </a:r>
          </a:p>
        </p:txBody>
      </p:sp>
      <p:sp>
        <p:nvSpPr>
          <p:cNvPr id="13" name="text-12">
            <a:extLst xmlns:a="http://schemas.openxmlformats.org/drawingml/2006/main">
              <a:ext uri="{FF2B5EF4-FFF2-40B4-BE49-F238E27FC236}">
                <a16:creationId xmlns:a16="http://schemas.microsoft.com/office/drawing/2014/main" id="{09109237-093E-4F09-BE9A-E57D1B38DC33}"/>
              </a:ext>
            </a:extLst>
          </p:cNvPr>
          <p:cNvSpPr>
            <a:spLocks xmlns:a="http://schemas.openxmlformats.org/drawingml/2006/main" noGrp="1"/>
          </p:cNvSpPr>
          <p:nvPr/>
        </p:nvSpPr>
        <p:spPr>
          <a:xfrm xmlns:a="http://schemas.openxmlformats.org/drawingml/2006/main">
            <a:off x="4210050" y="4362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42"/>
                </a:solidFill>
                <a:latin typeface="Arial"/>
                <a:ea typeface="Arial"/>
                <a:cs typeface="Arial"/>
              </a:defRPr>
            </a:pPr>
            <a:r>
              <a:rPr sz="1875" b="0">
                <a:solidFill>
                  <a:srgbClr val="172E42"/>
                </a:solidFill>
                <a:latin typeface="Arial"/>
                <a:ea typeface="Arial"/>
                <a:cs typeface="Arial"/>
              </a:rPr>
              <a:t>School design, professor, HUD</a:t>
            </a:r>
          </a:p>
        </p:txBody>
      </p:sp>
      <p:sp>
        <p:nvSpPr>
          <p:cNvPr id="14" name="text-13">
            <a:extLst xmlns:a="http://schemas.openxmlformats.org/drawingml/2006/main">
              <a:ext uri="{FF2B5EF4-FFF2-40B4-BE49-F238E27FC236}">
                <a16:creationId xmlns:a16="http://schemas.microsoft.com/office/drawing/2014/main" id="{474A323D-22BB-4ECC-B13E-FBF59FBA5423}"/>
              </a:ext>
            </a:extLst>
          </p:cNvPr>
          <p:cNvSpPr>
            <a:spLocks xmlns:a="http://schemas.openxmlformats.org/drawingml/2006/main" noGrp="1"/>
          </p:cNvSpPr>
          <p:nvPr/>
        </p:nvSpPr>
        <p:spPr>
          <a:xfrm xmlns:a="http://schemas.openxmlformats.org/drawingml/2006/main">
            <a:off x="533400" y="49244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Tobenna Uyanwune</a:t>
            </a:r>
          </a:p>
        </p:txBody>
      </p:sp>
      <p:sp>
        <p:nvSpPr>
          <p:cNvPr id="15" name="text-14">
            <a:extLst xmlns:a="http://schemas.openxmlformats.org/drawingml/2006/main">
              <a:ext uri="{FF2B5EF4-FFF2-40B4-BE49-F238E27FC236}">
                <a16:creationId xmlns:a16="http://schemas.microsoft.com/office/drawing/2014/main" id="{B5475F08-3BAD-4D97-BC16-1FA9ED53906C}"/>
              </a:ext>
            </a:extLst>
          </p:cNvPr>
          <p:cNvSpPr>
            <a:spLocks xmlns:a="http://schemas.openxmlformats.org/drawingml/2006/main" noGrp="1"/>
          </p:cNvSpPr>
          <p:nvPr/>
        </p:nvSpPr>
        <p:spPr>
          <a:xfrm xmlns:a="http://schemas.openxmlformats.org/drawingml/2006/main">
            <a:off x="4210050" y="4924425"/>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7F88"/>
                </a:solidFill>
                <a:latin typeface="Arial"/>
                <a:ea typeface="Arial"/>
                <a:cs typeface="Arial"/>
              </a:defRPr>
            </a:pPr>
            <a:r>
              <a:rPr sz="2100" b="1">
                <a:solidFill>
                  <a:srgbClr val="177F88"/>
                </a:solidFill>
                <a:latin typeface="Arial"/>
                <a:ea typeface="Arial"/>
                <a:cs typeface="Arial"/>
              </a:rPr>
              <a:t>Testing and improvements</a:t>
            </a:r>
          </a:p>
        </p:txBody>
      </p:sp>
      <p:sp>
        <p:nvSpPr>
          <p:cNvPr id="16" name="text-15">
            <a:extLst xmlns:a="http://schemas.openxmlformats.org/drawingml/2006/main">
              <a:ext uri="{FF2B5EF4-FFF2-40B4-BE49-F238E27FC236}">
                <a16:creationId xmlns:a16="http://schemas.microsoft.com/office/drawing/2014/main" id="{C1E5202F-890F-4559-B1B1-A5210E07E928}"/>
              </a:ext>
            </a:extLst>
          </p:cNvPr>
          <p:cNvSpPr>
            <a:spLocks xmlns:a="http://schemas.openxmlformats.org/drawingml/2006/main" noGrp="1"/>
          </p:cNvSpPr>
          <p:nvPr/>
        </p:nvSpPr>
        <p:spPr>
          <a:xfrm xmlns:a="http://schemas.openxmlformats.org/drawingml/2006/main">
            <a:off x="4210050" y="53149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2E42"/>
                </a:solidFill>
                <a:latin typeface="Arial"/>
                <a:ea typeface="Arial"/>
                <a:cs typeface="Arial"/>
              </a:defRPr>
            </a:pPr>
            <a:r>
              <a:rPr sz="1875" b="0">
                <a:solidFill>
                  <a:srgbClr val="172E42"/>
                </a:solidFill>
                <a:latin typeface="Arial"/>
                <a:ea typeface="Arial"/>
                <a:cs typeface="Arial"/>
              </a:rPr>
              <a:t>Bug fixes, chase balance, demo</a:t>
            </a:r>
          </a:p>
        </p:txBody>
      </p:sp>
    </p:spTree>
    <p:extLst>
      <p:ext uri="{BB962C8B-B14F-4D97-AF65-F5344CB8AC3E}">
        <p14:creationId xmlns:p14="http://schemas.microsoft.com/office/powerpoint/2010/main" val="1148449078"/>
      </p:ext>
    </p:extLst>
  </p:cSld>
</p:sld>
</file>

<file path=ppt/slides/slide3.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25" name="text-0">
            <a:extLst xmlns:a="http://schemas.openxmlformats.org/drawingml/2006/main">
              <a:ext uri="{FF2B5EF4-FFF2-40B4-BE49-F238E27FC236}">
                <a16:creationId xmlns:a16="http://schemas.microsoft.com/office/drawing/2014/main" id="{7515D10A-A99B-4971-9F78-4CCEFDDD72DC}"/>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B099798D-C3FB-4299-AB97-3010448CDC13}"/>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Six rooms to reach the bus</a:t>
            </a:r>
          </a:p>
        </p:txBody>
      </p:sp>
      <p:sp>
        <p:nvSpPr>
          <p:cNvPr id="3" name="text-2">
            <a:extLst xmlns:a="http://schemas.openxmlformats.org/drawingml/2006/main">
              <a:ext uri="{FF2B5EF4-FFF2-40B4-BE49-F238E27FC236}">
                <a16:creationId xmlns:a16="http://schemas.microsoft.com/office/drawing/2014/main" id="{9803906B-AD9E-4552-AF97-9A71EA50C1DA}"/>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Peace Funso-Ore</a:t>
            </a:r>
          </a:p>
        </p:txBody>
      </p:sp>
      <p:sp>
        <p:nvSpPr>
          <p:cNvPr id="4" name="text-3">
            <a:extLst xmlns:a="http://schemas.openxmlformats.org/drawingml/2006/main">
              <a:ext uri="{FF2B5EF4-FFF2-40B4-BE49-F238E27FC236}">
                <a16:creationId xmlns:a16="http://schemas.microsoft.com/office/drawing/2014/main" id="{2A159C59-BA2F-4E6F-81E4-131911FABD61}"/>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03</a:t>
            </a:r>
          </a:p>
        </p:txBody>
      </p:sp>
      <p:sp>
        <p:nvSpPr>
          <p:cNvPr id="5" name="text-4">
            <a:extLst xmlns:a="http://schemas.openxmlformats.org/drawingml/2006/main">
              <a:ext uri="{FF2B5EF4-FFF2-40B4-BE49-F238E27FC236}">
                <a16:creationId xmlns:a16="http://schemas.microsoft.com/office/drawing/2014/main" id="{5AE38ADB-62F0-46C9-8792-11AE97F44D1E}"/>
              </a:ext>
            </a:extLst>
          </p:cNvPr>
          <p:cNvSpPr>
            <a:spLocks xmlns:a="http://schemas.openxmlformats.org/drawingml/2006/main" noGrp="1"/>
          </p:cNvSpPr>
          <p:nvPr/>
        </p:nvSpPr>
        <p:spPr>
          <a:xfrm xmlns:a="http://schemas.openxmlformats.org/drawingml/2006/main">
            <a:off x="533400" y="195262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3D3FF29D-E4D6-4592-85D8-48EC1FE8F0B4}"/>
              </a:ext>
            </a:extLst>
          </p:cNvPr>
          <p:cNvSpPr>
            <a:spLocks xmlns:a="http://schemas.openxmlformats.org/drawingml/2006/main" noGrp="1"/>
          </p:cNvSpPr>
          <p:nvPr/>
        </p:nvSpPr>
        <p:spPr>
          <a:xfrm xmlns:a="http://schemas.openxmlformats.org/drawingml/2006/main">
            <a:off x="1219200" y="1952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Classroom</a:t>
            </a:r>
          </a:p>
        </p:txBody>
      </p:sp>
      <p:sp>
        <p:nvSpPr>
          <p:cNvPr id="7" name="text-6">
            <a:extLst xmlns:a="http://schemas.openxmlformats.org/drawingml/2006/main">
              <a:ext uri="{FF2B5EF4-FFF2-40B4-BE49-F238E27FC236}">
                <a16:creationId xmlns:a16="http://schemas.microsoft.com/office/drawing/2014/main" id="{E8BBD99D-D915-4C8A-B438-4B5277E2F926}"/>
              </a:ext>
            </a:extLst>
          </p:cNvPr>
          <p:cNvSpPr>
            <a:spLocks xmlns:a="http://schemas.openxmlformats.org/drawingml/2006/main" noGrp="1"/>
          </p:cNvSpPr>
          <p:nvPr/>
        </p:nvSpPr>
        <p:spPr>
          <a:xfrm xmlns:a="http://schemas.openxmlformats.org/drawingml/2006/main">
            <a:off x="1219200" y="22764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Collect 3 homework sheets</a:t>
            </a:r>
          </a:p>
        </p:txBody>
      </p:sp>
      <p:sp>
        <p:nvSpPr>
          <p:cNvPr id="8" name="text-7">
            <a:extLst xmlns:a="http://schemas.openxmlformats.org/drawingml/2006/main">
              <a:ext uri="{FF2B5EF4-FFF2-40B4-BE49-F238E27FC236}">
                <a16:creationId xmlns:a16="http://schemas.microsoft.com/office/drawing/2014/main" id="{50CFB592-39F2-4855-9076-A4C4DC76FB38}"/>
              </a:ext>
            </a:extLst>
          </p:cNvPr>
          <p:cNvSpPr>
            <a:spLocks xmlns:a="http://schemas.openxmlformats.org/drawingml/2006/main" noGrp="1"/>
          </p:cNvSpPr>
          <p:nvPr/>
        </p:nvSpPr>
        <p:spPr>
          <a:xfrm xmlns:a="http://schemas.openxmlformats.org/drawingml/2006/main">
            <a:off x="533400" y="261937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BB46776D-3242-4211-BBD2-9AF905AAF9F0}"/>
              </a:ext>
            </a:extLst>
          </p:cNvPr>
          <p:cNvSpPr>
            <a:spLocks xmlns:a="http://schemas.openxmlformats.org/drawingml/2006/main" noGrp="1"/>
          </p:cNvSpPr>
          <p:nvPr/>
        </p:nvSpPr>
        <p:spPr>
          <a:xfrm xmlns:a="http://schemas.openxmlformats.org/drawingml/2006/main">
            <a:off x="1219200" y="26193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Hallway</a:t>
            </a:r>
          </a:p>
        </p:txBody>
      </p:sp>
      <p:sp>
        <p:nvSpPr>
          <p:cNvPr id="10" name="text-9">
            <a:extLst xmlns:a="http://schemas.openxmlformats.org/drawingml/2006/main">
              <a:ext uri="{FF2B5EF4-FFF2-40B4-BE49-F238E27FC236}">
                <a16:creationId xmlns:a16="http://schemas.microsoft.com/office/drawing/2014/main" id="{ADC20B0C-E1E3-4963-8DEC-BE937A714A1F}"/>
              </a:ext>
            </a:extLst>
          </p:cNvPr>
          <p:cNvSpPr>
            <a:spLocks xmlns:a="http://schemas.openxmlformats.org/drawingml/2006/main" noGrp="1"/>
          </p:cNvSpPr>
          <p:nvPr/>
        </p:nvSpPr>
        <p:spPr>
          <a:xfrm xmlns:a="http://schemas.openxmlformats.org/drawingml/2006/main">
            <a:off x="1219200" y="294322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Dodge moving pencils</a:t>
            </a:r>
          </a:p>
        </p:txBody>
      </p:sp>
      <p:sp>
        <p:nvSpPr>
          <p:cNvPr id="11" name="text-10">
            <a:extLst xmlns:a="http://schemas.openxmlformats.org/drawingml/2006/main">
              <a:ext uri="{FF2B5EF4-FFF2-40B4-BE49-F238E27FC236}">
                <a16:creationId xmlns:a16="http://schemas.microsoft.com/office/drawing/2014/main" id="{C502AA5E-79E7-4373-A1F3-61D1F67457F7}"/>
              </a:ext>
            </a:extLst>
          </p:cNvPr>
          <p:cNvSpPr>
            <a:spLocks xmlns:a="http://schemas.openxmlformats.org/drawingml/2006/main" noGrp="1"/>
          </p:cNvSpPr>
          <p:nvPr/>
        </p:nvSpPr>
        <p:spPr>
          <a:xfrm xmlns:a="http://schemas.openxmlformats.org/drawingml/2006/main">
            <a:off x="533400" y="328612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183E2EEB-2ED6-4A30-B077-3C905C5701EC}"/>
              </a:ext>
            </a:extLst>
          </p:cNvPr>
          <p:cNvSpPr>
            <a:spLocks xmlns:a="http://schemas.openxmlformats.org/drawingml/2006/main" noGrp="1"/>
          </p:cNvSpPr>
          <p:nvPr/>
        </p:nvSpPr>
        <p:spPr>
          <a:xfrm xmlns:a="http://schemas.openxmlformats.org/drawingml/2006/main">
            <a:off x="1219200" y="32861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Library</a:t>
            </a:r>
          </a:p>
        </p:txBody>
      </p:sp>
      <p:sp>
        <p:nvSpPr>
          <p:cNvPr id="13" name="text-12">
            <a:extLst xmlns:a="http://schemas.openxmlformats.org/drawingml/2006/main">
              <a:ext uri="{FF2B5EF4-FFF2-40B4-BE49-F238E27FC236}">
                <a16:creationId xmlns:a16="http://schemas.microsoft.com/office/drawing/2014/main" id="{2E41A593-05E6-4EC8-B70F-269A32C33A55}"/>
              </a:ext>
            </a:extLst>
          </p:cNvPr>
          <p:cNvSpPr>
            <a:spLocks xmlns:a="http://schemas.openxmlformats.org/drawingml/2006/main" noGrp="1"/>
          </p:cNvSpPr>
          <p:nvPr/>
        </p:nvSpPr>
        <p:spPr>
          <a:xfrm xmlns:a="http://schemas.openxmlformats.org/drawingml/2006/main">
            <a:off x="1219200" y="36099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Jump across giant books</a:t>
            </a:r>
          </a:p>
        </p:txBody>
      </p:sp>
      <p:sp>
        <p:nvSpPr>
          <p:cNvPr id="14" name="text-13">
            <a:extLst xmlns:a="http://schemas.openxmlformats.org/drawingml/2006/main">
              <a:ext uri="{FF2B5EF4-FFF2-40B4-BE49-F238E27FC236}">
                <a16:creationId xmlns:a16="http://schemas.microsoft.com/office/drawing/2014/main" id="{10CA50D0-BBD1-46F0-B886-23DC5476CB8C}"/>
              </a:ext>
            </a:extLst>
          </p:cNvPr>
          <p:cNvSpPr>
            <a:spLocks xmlns:a="http://schemas.openxmlformats.org/drawingml/2006/main" noGrp="1"/>
          </p:cNvSpPr>
          <p:nvPr/>
        </p:nvSpPr>
        <p:spPr>
          <a:xfrm xmlns:a="http://schemas.openxmlformats.org/drawingml/2006/main">
            <a:off x="533400" y="395287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04CB8644-DDEE-40FF-9900-B2D5600D8C37}"/>
              </a:ext>
            </a:extLst>
          </p:cNvPr>
          <p:cNvSpPr>
            <a:spLocks xmlns:a="http://schemas.openxmlformats.org/drawingml/2006/main" noGrp="1"/>
          </p:cNvSpPr>
          <p:nvPr/>
        </p:nvSpPr>
        <p:spPr>
          <a:xfrm xmlns:a="http://schemas.openxmlformats.org/drawingml/2006/main">
            <a:off x="1219200" y="39528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Quiz lab</a:t>
            </a:r>
          </a:p>
        </p:txBody>
      </p:sp>
      <p:sp>
        <p:nvSpPr>
          <p:cNvPr id="16" name="text-15">
            <a:extLst xmlns:a="http://schemas.openxmlformats.org/drawingml/2006/main">
              <a:ext uri="{FF2B5EF4-FFF2-40B4-BE49-F238E27FC236}">
                <a16:creationId xmlns:a16="http://schemas.microsoft.com/office/drawing/2014/main" id="{93585BF0-BA62-48AE-8386-B924FD0EE268}"/>
              </a:ext>
            </a:extLst>
          </p:cNvPr>
          <p:cNvSpPr>
            <a:spLocks xmlns:a="http://schemas.openxmlformats.org/drawingml/2006/main" noGrp="1"/>
          </p:cNvSpPr>
          <p:nvPr/>
        </p:nvSpPr>
        <p:spPr>
          <a:xfrm xmlns:a="http://schemas.openxmlformats.org/drawingml/2006/main">
            <a:off x="1219200" y="427672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Answer 3 questions</a:t>
            </a:r>
          </a:p>
        </p:txBody>
      </p:sp>
      <p:sp>
        <p:nvSpPr>
          <p:cNvPr id="17" name="text-16">
            <a:extLst xmlns:a="http://schemas.openxmlformats.org/drawingml/2006/main">
              <a:ext uri="{FF2B5EF4-FFF2-40B4-BE49-F238E27FC236}">
                <a16:creationId xmlns:a16="http://schemas.microsoft.com/office/drawing/2014/main" id="{CD1D77F9-D5F8-41F3-8FFF-F3DF2103BA93}"/>
              </a:ext>
            </a:extLst>
          </p:cNvPr>
          <p:cNvSpPr>
            <a:spLocks xmlns:a="http://schemas.openxmlformats.org/drawingml/2006/main" noGrp="1"/>
          </p:cNvSpPr>
          <p:nvPr/>
        </p:nvSpPr>
        <p:spPr>
          <a:xfrm xmlns:a="http://schemas.openxmlformats.org/drawingml/2006/main">
            <a:off x="533400" y="461962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05</a:t>
            </a:r>
          </a:p>
        </p:txBody>
      </p:sp>
      <p:sp>
        <p:nvSpPr>
          <p:cNvPr id="18" name="text-17">
            <a:extLst xmlns:a="http://schemas.openxmlformats.org/drawingml/2006/main">
              <a:ext uri="{FF2B5EF4-FFF2-40B4-BE49-F238E27FC236}">
                <a16:creationId xmlns:a16="http://schemas.microsoft.com/office/drawing/2014/main" id="{D9421955-D09D-46E2-ADCE-498FB04AC597}"/>
              </a:ext>
            </a:extLst>
          </p:cNvPr>
          <p:cNvSpPr>
            <a:spLocks xmlns:a="http://schemas.openxmlformats.org/drawingml/2006/main" noGrp="1"/>
          </p:cNvSpPr>
          <p:nvPr/>
        </p:nvSpPr>
        <p:spPr>
          <a:xfrm xmlns:a="http://schemas.openxmlformats.org/drawingml/2006/main">
            <a:off x="1219200" y="4619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Staff room</a:t>
            </a:r>
          </a:p>
        </p:txBody>
      </p:sp>
      <p:sp>
        <p:nvSpPr>
          <p:cNvPr id="19" name="text-18">
            <a:extLst xmlns:a="http://schemas.openxmlformats.org/drawingml/2006/main">
              <a:ext uri="{FF2B5EF4-FFF2-40B4-BE49-F238E27FC236}">
                <a16:creationId xmlns:a16="http://schemas.microsoft.com/office/drawing/2014/main" id="{07B15299-C9A4-46FB-99B4-E6F054DAE9AD}"/>
              </a:ext>
            </a:extLst>
          </p:cNvPr>
          <p:cNvSpPr>
            <a:spLocks xmlns:a="http://schemas.openxmlformats.org/drawingml/2006/main" noGrp="1"/>
          </p:cNvSpPr>
          <p:nvPr/>
        </p:nvSpPr>
        <p:spPr>
          <a:xfrm xmlns:a="http://schemas.openxmlformats.org/drawingml/2006/main">
            <a:off x="1219200" y="49434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Take the exit key</a:t>
            </a:r>
          </a:p>
        </p:txBody>
      </p:sp>
      <p:sp>
        <p:nvSpPr>
          <p:cNvPr id="20" name="text-19">
            <a:extLst xmlns:a="http://schemas.openxmlformats.org/drawingml/2006/main">
              <a:ext uri="{FF2B5EF4-FFF2-40B4-BE49-F238E27FC236}">
                <a16:creationId xmlns:a16="http://schemas.microsoft.com/office/drawing/2014/main" id="{C6834457-64AF-45A2-A65B-F5A802C96B0B}"/>
              </a:ext>
            </a:extLst>
          </p:cNvPr>
          <p:cNvSpPr>
            <a:spLocks xmlns:a="http://schemas.openxmlformats.org/drawingml/2006/main" noGrp="1"/>
          </p:cNvSpPr>
          <p:nvPr/>
        </p:nvSpPr>
        <p:spPr>
          <a:xfrm xmlns:a="http://schemas.openxmlformats.org/drawingml/2006/main">
            <a:off x="533400" y="5286375"/>
            <a:ext cx="53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7F88"/>
                </a:solidFill>
                <a:latin typeface="Arial"/>
                <a:ea typeface="Arial"/>
                <a:cs typeface="Arial"/>
              </a:defRPr>
            </a:pPr>
            <a:r>
              <a:rPr sz="2025" b="1">
                <a:solidFill>
                  <a:srgbClr val="177F88"/>
                </a:solidFill>
                <a:latin typeface="Arial"/>
                <a:ea typeface="Arial"/>
                <a:cs typeface="Arial"/>
              </a:rPr>
              <a:t>06</a:t>
            </a:r>
          </a:p>
        </p:txBody>
      </p:sp>
      <p:sp>
        <p:nvSpPr>
          <p:cNvPr id="21" name="text-20">
            <a:extLst xmlns:a="http://schemas.openxmlformats.org/drawingml/2006/main">
              <a:ext uri="{FF2B5EF4-FFF2-40B4-BE49-F238E27FC236}">
                <a16:creationId xmlns:a16="http://schemas.microsoft.com/office/drawing/2014/main" id="{5FCFF91E-4843-475D-BD5C-26E5B28335FD}"/>
              </a:ext>
            </a:extLst>
          </p:cNvPr>
          <p:cNvSpPr>
            <a:spLocks xmlns:a="http://schemas.openxmlformats.org/drawingml/2006/main" noGrp="1"/>
          </p:cNvSpPr>
          <p:nvPr/>
        </p:nvSpPr>
        <p:spPr>
          <a:xfrm xmlns:a="http://schemas.openxmlformats.org/drawingml/2006/main">
            <a:off x="1219200" y="52863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2E42"/>
                </a:solidFill>
                <a:latin typeface="Arial"/>
                <a:ea typeface="Arial"/>
                <a:cs typeface="Arial"/>
              </a:defRPr>
            </a:pPr>
            <a:r>
              <a:rPr sz="2100" b="1">
                <a:solidFill>
                  <a:srgbClr val="172E42"/>
                </a:solidFill>
                <a:latin typeface="Arial"/>
                <a:ea typeface="Arial"/>
                <a:cs typeface="Arial"/>
              </a:rPr>
              <a:t>Final bell</a:t>
            </a:r>
          </a:p>
        </p:txBody>
      </p:sp>
      <p:sp>
        <p:nvSpPr>
          <p:cNvPr id="22" name="text-21">
            <a:extLst xmlns:a="http://schemas.openxmlformats.org/drawingml/2006/main">
              <a:ext uri="{FF2B5EF4-FFF2-40B4-BE49-F238E27FC236}">
                <a16:creationId xmlns:a16="http://schemas.microsoft.com/office/drawing/2014/main" id="{533DB059-CF0B-48C3-A855-97613AF66419}"/>
              </a:ext>
            </a:extLst>
          </p:cNvPr>
          <p:cNvSpPr>
            <a:spLocks xmlns:a="http://schemas.openxmlformats.org/drawingml/2006/main" noGrp="1"/>
          </p:cNvSpPr>
          <p:nvPr/>
        </p:nvSpPr>
        <p:spPr>
          <a:xfrm xmlns:a="http://schemas.openxmlformats.org/drawingml/2006/main">
            <a:off x="1219200" y="561022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Arial"/>
                <a:ea typeface="Arial"/>
                <a:cs typeface="Arial"/>
              </a:defRPr>
            </a:pPr>
            <a:r>
              <a:rPr sz="1725" b="0">
                <a:solidFill>
                  <a:srgbClr val="172E42"/>
                </a:solidFill>
                <a:latin typeface="Arial"/>
                <a:ea typeface="Arial"/>
                <a:cs typeface="Arial"/>
              </a:rPr>
              <a:t>Escape to the school bus</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ce8b7e45c474781"/>
          <a:srcRect xmlns:a="http://schemas.openxmlformats.org/drawingml/2006/main" l="1970" t="0" r="1970" b="0"/>
          <a:stretch xmlns:a="http://schemas.openxmlformats.org/drawingml/2006/main">
            <a:fillRect l="0" t="0" r="0" b="0"/>
          </a:stretch>
        </p:blipFill>
        <p:spPr>
          <a:xfrm xmlns:a="http://schemas.openxmlformats.org/drawingml/2006/main">
            <a:off x="6115050" y="1933575"/>
            <a:ext cx="5543550" cy="4010025"/>
          </a:xfrm>
          <a:prstGeom xmlns:a="http://schemas.openxmlformats.org/drawingml/2006/main" prst="rect">
            <a:avLst/>
          </a:prstGeom>
        </p:spPr>
      </p:pic>
      <p:sp>
        <p:nvSpPr>
          <p:cNvPr id="24" name="text-22">
            <a:extLst xmlns:a="http://schemas.openxmlformats.org/drawingml/2006/main">
              <a:ext uri="{FF2B5EF4-FFF2-40B4-BE49-F238E27FC236}">
                <a16:creationId xmlns:a16="http://schemas.microsoft.com/office/drawing/2014/main" id="{57C47E86-8B02-4E5B-BFBD-14FCCC40D353}"/>
              </a:ext>
            </a:extLst>
          </p:cNvPr>
          <p:cNvSpPr>
            <a:spLocks xmlns:a="http://schemas.openxmlformats.org/drawingml/2006/main" noGrp="1"/>
          </p:cNvSpPr>
          <p:nvPr/>
        </p:nvSpPr>
        <p:spPr>
          <a:xfrm xmlns:a="http://schemas.openxmlformats.org/drawingml/2006/main">
            <a:off x="6115050" y="606742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177F88"/>
                </a:solidFill>
                <a:latin typeface="Arial"/>
                <a:ea typeface="Arial"/>
                <a:cs typeface="Arial"/>
              </a:defRPr>
            </a:pPr>
            <a:r>
              <a:rPr sz="1350" b="0">
                <a:solidFill>
                  <a:srgbClr val="177F88"/>
                </a:solidFill>
                <a:latin typeface="Arial"/>
                <a:ea typeface="Arial"/>
                <a:cs typeface="Arial"/>
              </a:rPr>
              <a:t>Room 3: The Floor Is Homework</a:t>
            </a:r>
          </a:p>
        </p:txBody>
      </p:sp>
    </p:spTree>
    <p:extLst>
      <p:ext uri="{BB962C8B-B14F-4D97-AF65-F5344CB8AC3E}">
        <p14:creationId xmlns:p14="http://schemas.microsoft.com/office/powerpoint/2010/main" val="1679612726"/>
      </p:ext>
    </p:extLst>
  </p:cSld>
</p:sld>
</file>

<file path=ppt/slides/slide4.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0D8442F-7C9C-4540-8880-DE3EAF2FDE95}"/>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5F44B5CE-A49F-40EC-9A24-C88D07020FE9}"/>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Progress, retry, and replay</a:t>
            </a:r>
          </a:p>
        </p:txBody>
      </p:sp>
      <p:sp>
        <p:nvSpPr>
          <p:cNvPr id="3" name="text-2">
            <a:extLst xmlns:a="http://schemas.openxmlformats.org/drawingml/2006/main">
              <a:ext uri="{FF2B5EF4-FFF2-40B4-BE49-F238E27FC236}">
                <a16:creationId xmlns:a16="http://schemas.microsoft.com/office/drawing/2014/main" id="{6D81AA33-C1DF-4CDA-B851-0471397B4624}"/>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Peace Funso-Ore</a:t>
            </a:r>
          </a:p>
        </p:txBody>
      </p:sp>
      <p:sp>
        <p:nvSpPr>
          <p:cNvPr id="4" name="text-3">
            <a:extLst xmlns:a="http://schemas.openxmlformats.org/drawingml/2006/main">
              <a:ext uri="{FF2B5EF4-FFF2-40B4-BE49-F238E27FC236}">
                <a16:creationId xmlns:a16="http://schemas.microsoft.com/office/drawing/2014/main" id="{BA65D2FE-0818-4BB6-A852-EF6058AA90FD}"/>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24C394BF-644E-49C9-8A6C-D978D70E5D4A}"/>
              </a:ext>
            </a:extLst>
          </p:cNvPr>
          <p:cNvSpPr>
            <a:spLocks xmlns:a="http://schemas.openxmlformats.org/drawingml/2006/main" noGrp="1"/>
          </p:cNvSpPr>
          <p:nvPr/>
        </p:nvSpPr>
        <p:spPr>
          <a:xfrm xmlns:a="http://schemas.openxmlformats.org/drawingml/2006/main">
            <a:off x="533400" y="2000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A clear goal</a:t>
            </a:r>
          </a:p>
        </p:txBody>
      </p:sp>
      <p:sp>
        <p:nvSpPr>
          <p:cNvPr id="6" name="text-5">
            <a:extLst xmlns:a="http://schemas.openxmlformats.org/drawingml/2006/main">
              <a:ext uri="{FF2B5EF4-FFF2-40B4-BE49-F238E27FC236}">
                <a16:creationId xmlns:a16="http://schemas.microsoft.com/office/drawing/2014/main" id="{52ABDA23-04F2-4054-BCB2-A3B030102CDD}"/>
              </a:ext>
            </a:extLst>
          </p:cNvPr>
          <p:cNvSpPr>
            <a:spLocks xmlns:a="http://schemas.openxmlformats.org/drawingml/2006/main" noGrp="1"/>
          </p:cNvSpPr>
          <p:nvPr/>
        </p:nvSpPr>
        <p:spPr>
          <a:xfrm xmlns:a="http://schemas.openxmlformats.org/drawingml/2006/main">
            <a:off x="533400" y="24479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Complete the room objective</a:t>
            </a:r>
          </a:p>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to unlock the next stage.</a:t>
            </a:r>
          </a:p>
        </p:txBody>
      </p:sp>
      <p:sp>
        <p:nvSpPr>
          <p:cNvPr id="7" name="text-6">
            <a:extLst xmlns:a="http://schemas.openxmlformats.org/drawingml/2006/main">
              <a:ext uri="{FF2B5EF4-FFF2-40B4-BE49-F238E27FC236}">
                <a16:creationId xmlns:a16="http://schemas.microsoft.com/office/drawing/2014/main" id="{EFEBA803-3C75-48E4-8368-9668DA4480C0}"/>
              </a:ext>
            </a:extLst>
          </p:cNvPr>
          <p:cNvSpPr>
            <a:spLocks xmlns:a="http://schemas.openxmlformats.org/drawingml/2006/main" noGrp="1"/>
          </p:cNvSpPr>
          <p:nvPr/>
        </p:nvSpPr>
        <p:spPr>
          <a:xfrm xmlns:a="http://schemas.openxmlformats.org/drawingml/2006/main">
            <a:off x="6553200" y="20002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A useful retry</a:t>
            </a:r>
          </a:p>
        </p:txBody>
      </p:sp>
      <p:sp>
        <p:nvSpPr>
          <p:cNvPr id="8" name="text-7">
            <a:extLst xmlns:a="http://schemas.openxmlformats.org/drawingml/2006/main">
              <a:ext uri="{FF2B5EF4-FFF2-40B4-BE49-F238E27FC236}">
                <a16:creationId xmlns:a16="http://schemas.microsoft.com/office/drawing/2014/main" id="{A0174099-7F25-428B-A0CB-A0706E2745CE}"/>
              </a:ext>
            </a:extLst>
          </p:cNvPr>
          <p:cNvSpPr>
            <a:spLocks xmlns:a="http://schemas.openxmlformats.org/drawingml/2006/main" noGrp="1"/>
          </p:cNvSpPr>
          <p:nvPr/>
        </p:nvSpPr>
        <p:spPr>
          <a:xfrm xmlns:a="http://schemas.openxmlformats.org/drawingml/2006/main">
            <a:off x="6553200" y="24479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Return to checkpoints after</a:t>
            </a:r>
          </a:p>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a fall or a catch.</a:t>
            </a:r>
          </a:p>
        </p:txBody>
      </p:sp>
      <p:sp>
        <p:nvSpPr>
          <p:cNvPr id="9" name="text-8">
            <a:extLst xmlns:a="http://schemas.openxmlformats.org/drawingml/2006/main">
              <a:ext uri="{FF2B5EF4-FFF2-40B4-BE49-F238E27FC236}">
                <a16:creationId xmlns:a16="http://schemas.microsoft.com/office/drawing/2014/main" id="{46D59C68-3795-4888-890E-AA89E88D21C5}"/>
              </a:ext>
            </a:extLst>
          </p:cNvPr>
          <p:cNvSpPr>
            <a:spLocks xmlns:a="http://schemas.openxmlformats.org/drawingml/2006/main" noGrp="1"/>
          </p:cNvSpPr>
          <p:nvPr/>
        </p:nvSpPr>
        <p:spPr>
          <a:xfrm xmlns:a="http://schemas.openxmlformats.org/drawingml/2006/main">
            <a:off x="533400" y="40957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An optional challenge</a:t>
            </a:r>
          </a:p>
        </p:txBody>
      </p:sp>
      <p:sp>
        <p:nvSpPr>
          <p:cNvPr id="10" name="text-9">
            <a:extLst xmlns:a="http://schemas.openxmlformats.org/drawingml/2006/main">
              <a:ext uri="{FF2B5EF4-FFF2-40B4-BE49-F238E27FC236}">
                <a16:creationId xmlns:a16="http://schemas.microsoft.com/office/drawing/2014/main" id="{156021BE-CAB5-4689-8165-363E6F73E480}"/>
              </a:ext>
            </a:extLst>
          </p:cNvPr>
          <p:cNvSpPr>
            <a:spLocks xmlns:a="http://schemas.openxmlformats.org/drawingml/2006/main" noGrp="1"/>
          </p:cNvSpPr>
          <p:nvPr/>
        </p:nvSpPr>
        <p:spPr>
          <a:xfrm xmlns:a="http://schemas.openxmlformats.org/drawingml/2006/main">
            <a:off x="533400" y="45434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Find 6 hidden hall passes</a:t>
            </a:r>
          </a:p>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without blocking your escape.</a:t>
            </a:r>
          </a:p>
        </p:txBody>
      </p:sp>
      <p:sp>
        <p:nvSpPr>
          <p:cNvPr id="11" name="text-10">
            <a:extLst xmlns:a="http://schemas.openxmlformats.org/drawingml/2006/main">
              <a:ext uri="{FF2B5EF4-FFF2-40B4-BE49-F238E27FC236}">
                <a16:creationId xmlns:a16="http://schemas.microsoft.com/office/drawing/2014/main" id="{51AFAC54-EB11-41EA-98C2-74C0DEFCE316}"/>
              </a:ext>
            </a:extLst>
          </p:cNvPr>
          <p:cNvSpPr>
            <a:spLocks xmlns:a="http://schemas.openxmlformats.org/drawingml/2006/main" noGrp="1"/>
          </p:cNvSpPr>
          <p:nvPr/>
        </p:nvSpPr>
        <p:spPr>
          <a:xfrm xmlns:a="http://schemas.openxmlformats.org/drawingml/2006/main">
            <a:off x="6553200" y="4095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A reason to replay</a:t>
            </a:r>
          </a:p>
        </p:txBody>
      </p:sp>
      <p:sp>
        <p:nvSpPr>
          <p:cNvPr id="12" name="text-11">
            <a:extLst xmlns:a="http://schemas.openxmlformats.org/drawingml/2006/main">
              <a:ext uri="{FF2B5EF4-FFF2-40B4-BE49-F238E27FC236}">
                <a16:creationId xmlns:a16="http://schemas.microsoft.com/office/drawing/2014/main" id="{E767045F-FC7B-4E60-9B89-437D6586F92C}"/>
              </a:ext>
            </a:extLst>
          </p:cNvPr>
          <p:cNvSpPr>
            <a:spLocks xmlns:a="http://schemas.openxmlformats.org/drawingml/2006/main" noGrp="1"/>
          </p:cNvSpPr>
          <p:nvPr/>
        </p:nvSpPr>
        <p:spPr>
          <a:xfrm xmlns:a="http://schemas.openxmlformats.org/drawingml/2006/main">
            <a:off x="6553200" y="45434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Manage stamina, improve your</a:t>
            </a:r>
          </a:p>
          <a:p xmlns:a="http://schemas.openxmlformats.org/drawingml/2006/main">
            <a:pPr>
              <a:defRPr sz="2025" b="0">
                <a:solidFill>
                  <a:srgbClr val="F6F2E7"/>
                </a:solidFill>
                <a:latin typeface="Arial"/>
                <a:ea typeface="Arial"/>
                <a:cs typeface="Arial"/>
              </a:defRPr>
            </a:pPr>
            <a:r>
              <a:rPr sz="2025" b="0">
                <a:solidFill>
                  <a:srgbClr val="F6F2E7"/>
                </a:solidFill>
                <a:latin typeface="Arial"/>
                <a:ea typeface="Arial"/>
                <a:cs typeface="Arial"/>
              </a:rPr>
              <a:t>time, and earn a better grade.</a:t>
            </a:r>
          </a:p>
        </p:txBody>
      </p:sp>
    </p:spTree>
    <p:extLst>
      <p:ext uri="{BB962C8B-B14F-4D97-AF65-F5344CB8AC3E}">
        <p14:creationId xmlns:p14="http://schemas.microsoft.com/office/powerpoint/2010/main" val="2075980982"/>
      </p:ext>
    </p:extLst>
  </p:cSld>
</p:sld>
</file>

<file path=ppt/slides/slide5.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0DBB1E08-80F8-4DB0-8E82-F30C74DF61DE}"/>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C5A8C38F-4654-4CF0-84A5-3CA2B6118C8B}"/>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How the project fits together</a:t>
            </a:r>
          </a:p>
        </p:txBody>
      </p:sp>
      <p:sp>
        <p:nvSpPr>
          <p:cNvPr id="3" name="text-2">
            <a:extLst xmlns:a="http://schemas.openxmlformats.org/drawingml/2006/main">
              <a:ext uri="{FF2B5EF4-FFF2-40B4-BE49-F238E27FC236}">
                <a16:creationId xmlns:a16="http://schemas.microsoft.com/office/drawing/2014/main" id="{F88AD234-804F-4CA8-B57C-5D3041933960}"/>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James Hunter</a:t>
            </a:r>
          </a:p>
        </p:txBody>
      </p:sp>
      <p:sp>
        <p:nvSpPr>
          <p:cNvPr id="4" name="text-3">
            <a:extLst xmlns:a="http://schemas.openxmlformats.org/drawingml/2006/main">
              <a:ext uri="{FF2B5EF4-FFF2-40B4-BE49-F238E27FC236}">
                <a16:creationId xmlns:a16="http://schemas.microsoft.com/office/drawing/2014/main" id="{81BF8AE3-63F1-4BA3-BE56-BBF84D088F79}"/>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05</a:t>
            </a:r>
          </a:p>
        </p:txBody>
      </p:sp>
      <p:sp>
        <p:nvSpPr>
          <p:cNvPr id="5" name="text-4">
            <a:extLst xmlns:a="http://schemas.openxmlformats.org/drawingml/2006/main">
              <a:ext uri="{FF2B5EF4-FFF2-40B4-BE49-F238E27FC236}">
                <a16:creationId xmlns:a16="http://schemas.microsoft.com/office/drawing/2014/main" id="{E2F6D0E6-1F28-4289-BB5A-6ABB16D6E4F5}"/>
              </a:ext>
            </a:extLst>
          </p:cNvPr>
          <p:cNvSpPr>
            <a:spLocks xmlns:a="http://schemas.openxmlformats.org/drawingml/2006/main" noGrp="1"/>
          </p:cNvSpPr>
          <p:nvPr/>
        </p:nvSpPr>
        <p:spPr>
          <a:xfrm xmlns:a="http://schemas.openxmlformats.org/drawingml/2006/main">
            <a:off x="533400" y="19526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77F88"/>
                </a:solidFill>
                <a:latin typeface="Arial"/>
                <a:ea typeface="Arial"/>
                <a:cs typeface="Arial"/>
              </a:defRPr>
            </a:pPr>
            <a:r>
              <a:rPr sz="1500" b="1">
                <a:solidFill>
                  <a:srgbClr val="177F88"/>
                </a:solidFill>
                <a:latin typeface="Arial"/>
                <a:ea typeface="Arial"/>
                <a:cs typeface="Arial"/>
              </a:rPr>
              <a:t>LOCAL SOURCE</a:t>
            </a:r>
          </a:p>
        </p:txBody>
      </p:sp>
      <p:sp>
        <p:nvSpPr>
          <p:cNvPr id="6" name="text-5">
            <a:extLst xmlns:a="http://schemas.openxmlformats.org/drawingml/2006/main">
              <a:ext uri="{FF2B5EF4-FFF2-40B4-BE49-F238E27FC236}">
                <a16:creationId xmlns:a16="http://schemas.microsoft.com/office/drawing/2014/main" id="{380114BA-4102-4105-BE09-709DEC34D851}"/>
              </a:ext>
            </a:extLst>
          </p:cNvPr>
          <p:cNvSpPr>
            <a:spLocks xmlns:a="http://schemas.openxmlformats.org/drawingml/2006/main" noGrp="1"/>
          </p:cNvSpPr>
          <p:nvPr/>
        </p:nvSpPr>
        <p:spPr>
          <a:xfrm xmlns:a="http://schemas.openxmlformats.org/drawingml/2006/main">
            <a:off x="4667250" y="1952625"/>
            <a:ext cx="700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77F88"/>
                </a:solidFill>
                <a:latin typeface="Arial"/>
                <a:ea typeface="Arial"/>
                <a:cs typeface="Arial"/>
              </a:defRPr>
            </a:pPr>
            <a:r>
              <a:rPr sz="1500" b="1">
                <a:solidFill>
                  <a:srgbClr val="177F88"/>
                </a:solidFill>
                <a:latin typeface="Arial"/>
                <a:ea typeface="Arial"/>
                <a:cs typeface="Arial"/>
              </a:rPr>
              <a:t>STUDIO DESTINATION</a:t>
            </a:r>
          </a:p>
        </p:txBody>
      </p:sp>
      <p:sp>
        <p:nvSpPr>
          <p:cNvPr id="7" name="text-6">
            <a:extLst xmlns:a="http://schemas.openxmlformats.org/drawingml/2006/main">
              <a:ext uri="{FF2B5EF4-FFF2-40B4-BE49-F238E27FC236}">
                <a16:creationId xmlns:a16="http://schemas.microsoft.com/office/drawing/2014/main" id="{30DFFFF1-A647-442B-9588-B731C224141B}"/>
              </a:ext>
            </a:extLst>
          </p:cNvPr>
          <p:cNvSpPr>
            <a:spLocks xmlns:a="http://schemas.openxmlformats.org/drawingml/2006/main" noGrp="1"/>
          </p:cNvSpPr>
          <p:nvPr/>
        </p:nvSpPr>
        <p:spPr>
          <a:xfrm xmlns:a="http://schemas.openxmlformats.org/drawingml/2006/main">
            <a:off x="533400" y="24669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2E42"/>
                </a:solidFill>
                <a:latin typeface="Consolas"/>
                <a:ea typeface="Consolas"/>
                <a:cs typeface="Consolas"/>
              </a:defRPr>
            </a:pPr>
            <a:r>
              <a:rPr sz="2175" b="1">
                <a:solidFill>
                  <a:srgbClr val="172E42"/>
                </a:solidFill>
                <a:latin typeface="Consolas"/>
                <a:ea typeface="Consolas"/>
                <a:cs typeface="Consolas"/>
              </a:rPr>
              <a:t>src/server</a:t>
            </a:r>
          </a:p>
        </p:txBody>
      </p:sp>
      <p:sp>
        <p:nvSpPr>
          <p:cNvPr id="8" name="text-7">
            <a:extLst xmlns:a="http://schemas.openxmlformats.org/drawingml/2006/main">
              <a:ext uri="{FF2B5EF4-FFF2-40B4-BE49-F238E27FC236}">
                <a16:creationId xmlns:a16="http://schemas.microsoft.com/office/drawing/2014/main" id="{877885C9-FC86-4D75-B0DC-A3345BA39BCD}"/>
              </a:ext>
            </a:extLst>
          </p:cNvPr>
          <p:cNvSpPr>
            <a:spLocks xmlns:a="http://schemas.openxmlformats.org/drawingml/2006/main" noGrp="1"/>
          </p:cNvSpPr>
          <p:nvPr/>
        </p:nvSpPr>
        <p:spPr>
          <a:xfrm xmlns:a="http://schemas.openxmlformats.org/drawingml/2006/main">
            <a:off x="4667250" y="246697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Consolas"/>
                <a:ea typeface="Consolas"/>
                <a:cs typeface="Consolas"/>
              </a:defRPr>
            </a:pPr>
            <a:r>
              <a:rPr sz="2025" b="0">
                <a:solidFill>
                  <a:srgbClr val="172E42"/>
                </a:solidFill>
                <a:latin typeface="Consolas"/>
                <a:ea typeface="Consolas"/>
                <a:cs typeface="Consolas"/>
              </a:rPr>
              <a:t>ServerScriptService.EscapeServer</a:t>
            </a:r>
          </a:p>
        </p:txBody>
      </p:sp>
      <p:sp>
        <p:nvSpPr>
          <p:cNvPr id="9" name="text-8">
            <a:extLst xmlns:a="http://schemas.openxmlformats.org/drawingml/2006/main">
              <a:ext uri="{FF2B5EF4-FFF2-40B4-BE49-F238E27FC236}">
                <a16:creationId xmlns:a16="http://schemas.microsoft.com/office/drawing/2014/main" id="{14C77E52-2531-4963-BB42-105B33EF6046}"/>
              </a:ext>
            </a:extLst>
          </p:cNvPr>
          <p:cNvSpPr>
            <a:spLocks xmlns:a="http://schemas.openxmlformats.org/drawingml/2006/main" noGrp="1"/>
          </p:cNvSpPr>
          <p:nvPr/>
        </p:nvSpPr>
        <p:spPr>
          <a:xfrm xmlns:a="http://schemas.openxmlformats.org/drawingml/2006/main">
            <a:off x="533400" y="31146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2E42"/>
                </a:solidFill>
                <a:latin typeface="Consolas"/>
                <a:ea typeface="Consolas"/>
                <a:cs typeface="Consolas"/>
              </a:defRPr>
            </a:pPr>
            <a:r>
              <a:rPr sz="2175" b="1">
                <a:solidFill>
                  <a:srgbClr val="172E42"/>
                </a:solidFill>
                <a:latin typeface="Consolas"/>
                <a:ea typeface="Consolas"/>
                <a:cs typeface="Consolas"/>
              </a:rPr>
              <a:t>src/client</a:t>
            </a:r>
          </a:p>
        </p:txBody>
      </p:sp>
      <p:sp>
        <p:nvSpPr>
          <p:cNvPr id="10" name="text-9">
            <a:extLst xmlns:a="http://schemas.openxmlformats.org/drawingml/2006/main">
              <a:ext uri="{FF2B5EF4-FFF2-40B4-BE49-F238E27FC236}">
                <a16:creationId xmlns:a16="http://schemas.microsoft.com/office/drawing/2014/main" id="{5DE06B11-165D-42FF-BC9A-98417808ACFC}"/>
              </a:ext>
            </a:extLst>
          </p:cNvPr>
          <p:cNvSpPr>
            <a:spLocks xmlns:a="http://schemas.openxmlformats.org/drawingml/2006/main" noGrp="1"/>
          </p:cNvSpPr>
          <p:nvPr/>
        </p:nvSpPr>
        <p:spPr>
          <a:xfrm xmlns:a="http://schemas.openxmlformats.org/drawingml/2006/main">
            <a:off x="4667250" y="311467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Consolas"/>
                <a:ea typeface="Consolas"/>
                <a:cs typeface="Consolas"/>
              </a:defRPr>
            </a:pPr>
            <a:r>
              <a:rPr sz="2025" b="0">
                <a:solidFill>
                  <a:srgbClr val="172E42"/>
                </a:solidFill>
                <a:latin typeface="Consolas"/>
                <a:ea typeface="Consolas"/>
                <a:cs typeface="Consolas"/>
              </a:rPr>
              <a:t>StarterPlayerScripts.EscapeClient</a:t>
            </a:r>
          </a:p>
        </p:txBody>
      </p:sp>
      <p:sp>
        <p:nvSpPr>
          <p:cNvPr id="11" name="text-10">
            <a:extLst xmlns:a="http://schemas.openxmlformats.org/drawingml/2006/main">
              <a:ext uri="{FF2B5EF4-FFF2-40B4-BE49-F238E27FC236}">
                <a16:creationId xmlns:a16="http://schemas.microsoft.com/office/drawing/2014/main" id="{B89A9ABD-EABF-4DA5-8D43-2C4BF4092D09}"/>
              </a:ext>
            </a:extLst>
          </p:cNvPr>
          <p:cNvSpPr>
            <a:spLocks xmlns:a="http://schemas.openxmlformats.org/drawingml/2006/main" noGrp="1"/>
          </p:cNvSpPr>
          <p:nvPr/>
        </p:nvSpPr>
        <p:spPr>
          <a:xfrm xmlns:a="http://schemas.openxmlformats.org/drawingml/2006/main">
            <a:off x="533400" y="37623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2E42"/>
                </a:solidFill>
                <a:latin typeface="Consolas"/>
                <a:ea typeface="Consolas"/>
                <a:cs typeface="Consolas"/>
              </a:defRPr>
            </a:pPr>
            <a:r>
              <a:rPr sz="2175" b="1">
                <a:solidFill>
                  <a:srgbClr val="172E42"/>
                </a:solidFill>
                <a:latin typeface="Consolas"/>
                <a:ea typeface="Consolas"/>
                <a:cs typeface="Consolas"/>
              </a:rPr>
              <a:t>src/shared</a:t>
            </a:r>
          </a:p>
        </p:txBody>
      </p:sp>
      <p:sp>
        <p:nvSpPr>
          <p:cNvPr id="12" name="text-11">
            <a:extLst xmlns:a="http://schemas.openxmlformats.org/drawingml/2006/main">
              <a:ext uri="{FF2B5EF4-FFF2-40B4-BE49-F238E27FC236}">
                <a16:creationId xmlns:a16="http://schemas.microsoft.com/office/drawing/2014/main" id="{5B0E2222-9746-416C-AA01-08189F5E2CB2}"/>
              </a:ext>
            </a:extLst>
          </p:cNvPr>
          <p:cNvSpPr>
            <a:spLocks xmlns:a="http://schemas.openxmlformats.org/drawingml/2006/main" noGrp="1"/>
          </p:cNvSpPr>
          <p:nvPr/>
        </p:nvSpPr>
        <p:spPr>
          <a:xfrm xmlns:a="http://schemas.openxmlformats.org/drawingml/2006/main">
            <a:off x="4667250" y="376237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Consolas"/>
                <a:ea typeface="Consolas"/>
                <a:cs typeface="Consolas"/>
              </a:defRPr>
            </a:pPr>
            <a:r>
              <a:rPr sz="2025" b="0">
                <a:solidFill>
                  <a:srgbClr val="172E42"/>
                </a:solidFill>
                <a:latin typeface="Consolas"/>
                <a:ea typeface="Consolas"/>
                <a:cs typeface="Consolas"/>
              </a:rPr>
              <a:t>ReplicatedStorage.EscapeShared</a:t>
            </a:r>
          </a:p>
        </p:txBody>
      </p:sp>
      <p:sp>
        <p:nvSpPr>
          <p:cNvPr id="13" name="text-12">
            <a:extLst xmlns:a="http://schemas.openxmlformats.org/drawingml/2006/main">
              <a:ext uri="{FF2B5EF4-FFF2-40B4-BE49-F238E27FC236}">
                <a16:creationId xmlns:a16="http://schemas.microsoft.com/office/drawing/2014/main" id="{CB99E4BA-C1C9-4C32-A051-E8CC58E29708}"/>
              </a:ext>
            </a:extLst>
          </p:cNvPr>
          <p:cNvSpPr>
            <a:spLocks xmlns:a="http://schemas.openxmlformats.org/drawingml/2006/main" noGrp="1"/>
          </p:cNvSpPr>
          <p:nvPr/>
        </p:nvSpPr>
        <p:spPr>
          <a:xfrm xmlns:a="http://schemas.openxmlformats.org/drawingml/2006/main">
            <a:off x="533400" y="4800600"/>
            <a:ext cx="11001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Rojo syncs the scripts. The complete .rbxl file also stores the school and professor model.</a:t>
            </a:r>
          </a:p>
        </p:txBody>
      </p:sp>
      <p:sp>
        <p:nvSpPr>
          <p:cNvPr id="14" name="text-13">
            <a:extLst xmlns:a="http://schemas.openxmlformats.org/drawingml/2006/main">
              <a:ext uri="{FF2B5EF4-FFF2-40B4-BE49-F238E27FC236}">
                <a16:creationId xmlns:a16="http://schemas.microsoft.com/office/drawing/2014/main" id="{EBEC2814-E9F3-4FD0-9AD7-AC12580D0786}"/>
              </a:ext>
            </a:extLst>
          </p:cNvPr>
          <p:cNvSpPr>
            <a:spLocks xmlns:a="http://schemas.openxmlformats.org/drawingml/2006/main" noGrp="1"/>
          </p:cNvSpPr>
          <p:nvPr/>
        </p:nvSpPr>
        <p:spPr>
          <a:xfrm xmlns:a="http://schemas.openxmlformats.org/drawingml/2006/main">
            <a:off x="533400" y="58483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7F88"/>
                </a:solidFill>
                <a:latin typeface="Arial"/>
                <a:ea typeface="Arial"/>
                <a:cs typeface="Arial"/>
              </a:defRPr>
            </a:pPr>
            <a:r>
              <a:rPr sz="1800" b="1">
                <a:solidFill>
                  <a:srgbClr val="177F88"/>
                </a:solidFill>
                <a:latin typeface="Arial"/>
                <a:ea typeface="Arial"/>
                <a:cs typeface="Arial"/>
              </a:rPr>
              <a:t>Tools: Roblox Studio, Luau, Rojo, and AI-assisted development</a:t>
            </a:r>
          </a:p>
        </p:txBody>
      </p:sp>
    </p:spTree>
    <p:extLst>
      <p:ext uri="{BB962C8B-B14F-4D97-AF65-F5344CB8AC3E}">
        <p14:creationId xmlns:p14="http://schemas.microsoft.com/office/powerpoint/2010/main" val="2102486724"/>
      </p:ext>
    </p:extLst>
  </p:cSld>
</p:sld>
</file>

<file path=ppt/slides/slide6.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EB2D1B1-B78E-45B2-A803-3A4BE81CC93B}"/>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BE13EE1C-2B26-4825-9BFB-5FF33E0B78FB}"/>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Code: the classroom exit</a:t>
            </a:r>
          </a:p>
        </p:txBody>
      </p:sp>
      <p:sp>
        <p:nvSpPr>
          <p:cNvPr id="3" name="text-2">
            <a:extLst xmlns:a="http://schemas.openxmlformats.org/drawingml/2006/main">
              <a:ext uri="{FF2B5EF4-FFF2-40B4-BE49-F238E27FC236}">
                <a16:creationId xmlns:a16="http://schemas.microsoft.com/office/drawing/2014/main" id="{ACA6D587-EE3D-4457-B355-1854E853A7AA}"/>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James Hunter</a:t>
            </a:r>
          </a:p>
        </p:txBody>
      </p:sp>
      <p:sp>
        <p:nvSpPr>
          <p:cNvPr id="4" name="text-3">
            <a:extLst xmlns:a="http://schemas.openxmlformats.org/drawingml/2006/main">
              <a:ext uri="{FF2B5EF4-FFF2-40B4-BE49-F238E27FC236}">
                <a16:creationId xmlns:a16="http://schemas.microsoft.com/office/drawing/2014/main" id="{B711D098-B279-4838-A8FF-F4D53F446B93}"/>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DA0412CA-B746-443A-BAF7-204B236F60CB}"/>
              </a:ext>
            </a:extLst>
          </p:cNvPr>
          <p:cNvSpPr>
            <a:spLocks xmlns:a="http://schemas.openxmlformats.org/drawingml/2006/main" noGrp="1"/>
          </p:cNvSpPr>
          <p:nvPr/>
        </p:nvSpPr>
        <p:spPr>
          <a:xfrm xmlns:a="http://schemas.openxmlformats.org/drawingml/2006/main">
            <a:off x="533400" y="19716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if s.Homework &lt; 3 then</a:t>
            </a:r>
          </a:p>
        </p:txBody>
      </p:sp>
      <p:sp>
        <p:nvSpPr>
          <p:cNvPr id="6" name="text-5">
            <a:extLst xmlns:a="http://schemas.openxmlformats.org/drawingml/2006/main">
              <a:ext uri="{FF2B5EF4-FFF2-40B4-BE49-F238E27FC236}">
                <a16:creationId xmlns:a16="http://schemas.microsoft.com/office/drawing/2014/main" id="{A6268310-EA8D-41DC-865F-CF390476D7CA}"/>
              </a:ext>
            </a:extLst>
          </p:cNvPr>
          <p:cNvSpPr>
            <a:spLocks xmlns:a="http://schemas.openxmlformats.org/drawingml/2006/main" noGrp="1"/>
          </p:cNvSpPr>
          <p:nvPr/>
        </p:nvSpPr>
        <p:spPr>
          <a:xfrm xmlns:a="http://schemas.openxmlformats.org/drawingml/2006/main">
            <a:off x="533400" y="23336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    P.Send(player, 'Toast', {</a:t>
            </a:r>
          </a:p>
        </p:txBody>
      </p:sp>
      <p:sp>
        <p:nvSpPr>
          <p:cNvPr id="7" name="text-6">
            <a:extLst xmlns:a="http://schemas.openxmlformats.org/drawingml/2006/main">
              <a:ext uri="{FF2B5EF4-FFF2-40B4-BE49-F238E27FC236}">
                <a16:creationId xmlns:a16="http://schemas.microsoft.com/office/drawing/2014/main" id="{8CF64C3A-F3AE-4421-8306-D6551683F03A}"/>
              </a:ext>
            </a:extLst>
          </p:cNvPr>
          <p:cNvSpPr>
            <a:spLocks xmlns:a="http://schemas.openxmlformats.org/drawingml/2006/main" noGrp="1"/>
          </p:cNvSpPr>
          <p:nvPr/>
        </p:nvSpPr>
        <p:spPr>
          <a:xfrm xmlns:a="http://schemas.openxmlformats.org/drawingml/2006/main">
            <a:off x="533400" y="26955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        Text = 'Find all 3 homework sheets first.',</a:t>
            </a:r>
          </a:p>
        </p:txBody>
      </p:sp>
      <p:sp>
        <p:nvSpPr>
          <p:cNvPr id="8" name="text-7">
            <a:extLst xmlns:a="http://schemas.openxmlformats.org/drawingml/2006/main">
              <a:ext uri="{FF2B5EF4-FFF2-40B4-BE49-F238E27FC236}">
                <a16:creationId xmlns:a16="http://schemas.microsoft.com/office/drawing/2014/main" id="{83E27E13-6907-40E6-88DE-B074EB9FCAC7}"/>
              </a:ext>
            </a:extLst>
          </p:cNvPr>
          <p:cNvSpPr>
            <a:spLocks xmlns:a="http://schemas.openxmlformats.org/drawingml/2006/main" noGrp="1"/>
          </p:cNvSpPr>
          <p:nvPr/>
        </p:nvSpPr>
        <p:spPr>
          <a:xfrm xmlns:a="http://schemas.openxmlformats.org/drawingml/2006/main">
            <a:off x="533400" y="30575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        Tone = 'bad'</a:t>
            </a:r>
          </a:p>
        </p:txBody>
      </p:sp>
      <p:sp>
        <p:nvSpPr>
          <p:cNvPr id="9" name="text-8">
            <a:extLst xmlns:a="http://schemas.openxmlformats.org/drawingml/2006/main">
              <a:ext uri="{FF2B5EF4-FFF2-40B4-BE49-F238E27FC236}">
                <a16:creationId xmlns:a16="http://schemas.microsoft.com/office/drawing/2014/main" id="{5244DD00-46F3-4AE2-9AC3-AE6DC38626EC}"/>
              </a:ext>
            </a:extLst>
          </p:cNvPr>
          <p:cNvSpPr>
            <a:spLocks xmlns:a="http://schemas.openxmlformats.org/drawingml/2006/main" noGrp="1"/>
          </p:cNvSpPr>
          <p:nvPr/>
        </p:nvSpPr>
        <p:spPr>
          <a:xfrm xmlns:a="http://schemas.openxmlformats.org/drawingml/2006/main">
            <a:off x="533400" y="34194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    })</a:t>
            </a:r>
          </a:p>
        </p:txBody>
      </p:sp>
      <p:sp>
        <p:nvSpPr>
          <p:cNvPr id="10" name="text-9">
            <a:extLst xmlns:a="http://schemas.openxmlformats.org/drawingml/2006/main">
              <a:ext uri="{FF2B5EF4-FFF2-40B4-BE49-F238E27FC236}">
                <a16:creationId xmlns:a16="http://schemas.microsoft.com/office/drawing/2014/main" id="{E8B202D0-AA7E-4ED4-BFED-E2D7F4F4BA0D}"/>
              </a:ext>
            </a:extLst>
          </p:cNvPr>
          <p:cNvSpPr>
            <a:spLocks xmlns:a="http://schemas.openxmlformats.org/drawingml/2006/main" noGrp="1"/>
          </p:cNvSpPr>
          <p:nvPr/>
        </p:nvSpPr>
        <p:spPr>
          <a:xfrm xmlns:a="http://schemas.openxmlformats.org/drawingml/2006/main">
            <a:off x="533400" y="37814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    return</a:t>
            </a:r>
          </a:p>
        </p:txBody>
      </p:sp>
      <p:sp>
        <p:nvSpPr>
          <p:cNvPr id="11" name="text-10">
            <a:extLst xmlns:a="http://schemas.openxmlformats.org/drawingml/2006/main">
              <a:ext uri="{FF2B5EF4-FFF2-40B4-BE49-F238E27FC236}">
                <a16:creationId xmlns:a16="http://schemas.microsoft.com/office/drawing/2014/main" id="{C747E886-AC53-4859-BA36-8897E860F37B}"/>
              </a:ext>
            </a:extLst>
          </p:cNvPr>
          <p:cNvSpPr>
            <a:spLocks xmlns:a="http://schemas.openxmlformats.org/drawingml/2006/main" noGrp="1"/>
          </p:cNvSpPr>
          <p:nvPr/>
        </p:nvSpPr>
        <p:spPr>
          <a:xfrm xmlns:a="http://schemas.openxmlformats.org/drawingml/2006/main">
            <a:off x="533400" y="41433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end</a:t>
            </a:r>
          </a:p>
        </p:txBody>
      </p:sp>
      <p:sp>
        <p:nvSpPr>
          <p:cNvPr id="12" name="text-11">
            <a:extLst xmlns:a="http://schemas.openxmlformats.org/drawingml/2006/main">
              <a:ext uri="{FF2B5EF4-FFF2-40B4-BE49-F238E27FC236}">
                <a16:creationId xmlns:a16="http://schemas.microsoft.com/office/drawing/2014/main" id="{1FBF32E0-4E03-488C-A11A-D54CD482B8FE}"/>
              </a:ext>
            </a:extLst>
          </p:cNvPr>
          <p:cNvSpPr>
            <a:spLocks xmlns:a="http://schemas.openxmlformats.org/drawingml/2006/main" noGrp="1"/>
          </p:cNvSpPr>
          <p:nvPr/>
        </p:nvSpPr>
        <p:spPr>
          <a:xfrm xmlns:a="http://schemas.openxmlformats.org/drawingml/2006/main">
            <a:off x="533400" y="45053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6F2E7"/>
                </a:solidFill>
                <a:latin typeface="Consolas"/>
                <a:ea typeface="Consolas"/>
                <a:cs typeface="Consolas"/>
              </a:defRPr>
            </a:pPr>
            <a:r>
              <a:rPr sz="2025" b="0">
                <a:solidFill>
                  <a:srgbClr val="F6F2E7"/>
                </a:solidFill>
                <a:latin typeface="Consolas"/>
                <a:ea typeface="Consolas"/>
                <a:cs typeface="Consolas"/>
              </a:rPr>
              <a:t>P.Stage(player, 2, 'HallStart')</a:t>
            </a:r>
          </a:p>
        </p:txBody>
      </p:sp>
      <p:sp>
        <p:nvSpPr>
          <p:cNvPr id="13" name="text-12">
            <a:extLst xmlns:a="http://schemas.openxmlformats.org/drawingml/2006/main">
              <a:ext uri="{FF2B5EF4-FFF2-40B4-BE49-F238E27FC236}">
                <a16:creationId xmlns:a16="http://schemas.microsoft.com/office/drawing/2014/main" id="{0342E107-5C56-4FD2-9012-BD62F78D597E}"/>
              </a:ext>
            </a:extLst>
          </p:cNvPr>
          <p:cNvSpPr>
            <a:spLocks xmlns:a="http://schemas.openxmlformats.org/drawingml/2006/main" noGrp="1"/>
          </p:cNvSpPr>
          <p:nvPr/>
        </p:nvSpPr>
        <p:spPr>
          <a:xfrm xmlns:a="http://schemas.openxmlformats.org/drawingml/2006/main">
            <a:off x="533400" y="52768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D04A"/>
                </a:solidFill>
                <a:latin typeface="Arial"/>
                <a:ea typeface="Arial"/>
                <a:cs typeface="Arial"/>
              </a:defRPr>
            </a:pPr>
            <a:r>
              <a:rPr sz="1950" b="1">
                <a:solidFill>
                  <a:srgbClr val="FFD04A"/>
                </a:solidFill>
                <a:latin typeface="Arial"/>
                <a:ea typeface="Arial"/>
                <a:cs typeface="Arial"/>
              </a:rPr>
              <a:t>Condition</a:t>
            </a:r>
          </a:p>
        </p:txBody>
      </p:sp>
      <p:sp>
        <p:nvSpPr>
          <p:cNvPr id="14" name="text-13">
            <a:extLst xmlns:a="http://schemas.openxmlformats.org/drawingml/2006/main">
              <a:ext uri="{FF2B5EF4-FFF2-40B4-BE49-F238E27FC236}">
                <a16:creationId xmlns:a16="http://schemas.microsoft.com/office/drawing/2014/main" id="{D412FFDC-FB3A-4BEB-8E88-734BED0E846E}"/>
              </a:ext>
            </a:extLst>
          </p:cNvPr>
          <p:cNvSpPr>
            <a:spLocks xmlns:a="http://schemas.openxmlformats.org/drawingml/2006/main" noGrp="1"/>
          </p:cNvSpPr>
          <p:nvPr/>
        </p:nvSpPr>
        <p:spPr>
          <a:xfrm xmlns:a="http://schemas.openxmlformats.org/drawingml/2006/main">
            <a:off x="2667000" y="5276850"/>
            <a:ext cx="838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F6F2E7"/>
                </a:solidFill>
                <a:latin typeface="Arial"/>
                <a:ea typeface="Arial"/>
                <a:cs typeface="Arial"/>
              </a:defRPr>
            </a:pPr>
            <a:r>
              <a:rPr sz="1950" b="0">
                <a:solidFill>
                  <a:srgbClr val="F6F2E7"/>
                </a:solidFill>
                <a:latin typeface="Arial"/>
                <a:ea typeface="Arial"/>
                <a:cs typeface="Arial"/>
              </a:rPr>
              <a:t>Check the homework count.</a:t>
            </a:r>
          </a:p>
        </p:txBody>
      </p:sp>
      <p:sp>
        <p:nvSpPr>
          <p:cNvPr id="15" name="text-14">
            <a:extLst xmlns:a="http://schemas.openxmlformats.org/drawingml/2006/main">
              <a:ext uri="{FF2B5EF4-FFF2-40B4-BE49-F238E27FC236}">
                <a16:creationId xmlns:a16="http://schemas.microsoft.com/office/drawing/2014/main" id="{4AE93088-AF95-4578-B39C-736A13F41143}"/>
              </a:ext>
            </a:extLst>
          </p:cNvPr>
          <p:cNvSpPr>
            <a:spLocks xmlns:a="http://schemas.openxmlformats.org/drawingml/2006/main" noGrp="1"/>
          </p:cNvSpPr>
          <p:nvPr/>
        </p:nvSpPr>
        <p:spPr>
          <a:xfrm xmlns:a="http://schemas.openxmlformats.org/drawingml/2006/main">
            <a:off x="533400" y="57245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FFD04A"/>
                </a:solidFill>
                <a:latin typeface="Arial"/>
                <a:ea typeface="Arial"/>
                <a:cs typeface="Arial"/>
              </a:defRPr>
            </a:pPr>
            <a:r>
              <a:rPr sz="1950" b="1">
                <a:solidFill>
                  <a:srgbClr val="FFD04A"/>
                </a:solidFill>
                <a:latin typeface="Arial"/>
                <a:ea typeface="Arial"/>
                <a:cs typeface="Arial"/>
              </a:rPr>
              <a:t>Early return</a:t>
            </a:r>
          </a:p>
        </p:txBody>
      </p:sp>
      <p:sp>
        <p:nvSpPr>
          <p:cNvPr id="16" name="text-15">
            <a:extLst xmlns:a="http://schemas.openxmlformats.org/drawingml/2006/main">
              <a:ext uri="{FF2B5EF4-FFF2-40B4-BE49-F238E27FC236}">
                <a16:creationId xmlns:a16="http://schemas.microsoft.com/office/drawing/2014/main" id="{900186FC-47A4-49A5-9FEE-1C48EB7A4D55}"/>
              </a:ext>
            </a:extLst>
          </p:cNvPr>
          <p:cNvSpPr>
            <a:spLocks xmlns:a="http://schemas.openxmlformats.org/drawingml/2006/main" noGrp="1"/>
          </p:cNvSpPr>
          <p:nvPr/>
        </p:nvSpPr>
        <p:spPr>
          <a:xfrm xmlns:a="http://schemas.openxmlformats.org/drawingml/2006/main">
            <a:off x="2667000" y="5724525"/>
            <a:ext cx="8524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F6F2E7"/>
                </a:solidFill>
                <a:latin typeface="Arial"/>
                <a:ea typeface="Arial"/>
                <a:cs typeface="Arial"/>
              </a:defRPr>
            </a:pPr>
            <a:r>
              <a:rPr sz="1950" b="0">
                <a:solidFill>
                  <a:srgbClr val="F6F2E7"/>
                </a:solidFill>
                <a:latin typeface="Arial"/>
                <a:ea typeface="Arial"/>
                <a:cs typeface="Arial"/>
              </a:rPr>
              <a:t>Stop until the requirement is complete.</a:t>
            </a:r>
          </a:p>
        </p:txBody>
      </p:sp>
    </p:spTree>
    <p:extLst>
      <p:ext uri="{BB962C8B-B14F-4D97-AF65-F5344CB8AC3E}">
        <p14:creationId xmlns:p14="http://schemas.microsoft.com/office/powerpoint/2010/main" val="354988839"/>
      </p:ext>
    </p:extLst>
  </p:cSld>
</p:sld>
</file>

<file path=ppt/slides/slide7.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3839603-439E-4880-9B0C-0AC68C3B73A5}"/>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0B0F9565-1641-4236-972C-72FDD5580ED3}"/>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Code: a different quiz each run</a:t>
            </a:r>
          </a:p>
        </p:txBody>
      </p:sp>
      <p:sp>
        <p:nvSpPr>
          <p:cNvPr id="3" name="text-2">
            <a:extLst xmlns:a="http://schemas.openxmlformats.org/drawingml/2006/main">
              <a:ext uri="{FF2B5EF4-FFF2-40B4-BE49-F238E27FC236}">
                <a16:creationId xmlns:a16="http://schemas.microsoft.com/office/drawing/2014/main" id="{F1765435-4F96-4DCE-A71A-DFA0FA5CEF81}"/>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James Hunter</a:t>
            </a:r>
          </a:p>
        </p:txBody>
      </p:sp>
      <p:sp>
        <p:nvSpPr>
          <p:cNvPr id="4" name="text-3">
            <a:extLst xmlns:a="http://schemas.openxmlformats.org/drawingml/2006/main">
              <a:ext uri="{FF2B5EF4-FFF2-40B4-BE49-F238E27FC236}">
                <a16:creationId xmlns:a16="http://schemas.microsoft.com/office/drawing/2014/main" id="{61C75E43-F0C6-4BBF-A7E8-FE314D476A9D}"/>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07</a:t>
            </a:r>
          </a:p>
        </p:txBody>
      </p:sp>
      <p:sp>
        <p:nvSpPr>
          <p:cNvPr id="5" name="text-4">
            <a:extLst xmlns:a="http://schemas.openxmlformats.org/drawingml/2006/main">
              <a:ext uri="{FF2B5EF4-FFF2-40B4-BE49-F238E27FC236}">
                <a16:creationId xmlns:a16="http://schemas.microsoft.com/office/drawing/2014/main" id="{7596E814-616F-4071-A1A4-6B84F2990090}"/>
              </a:ext>
            </a:extLst>
          </p:cNvPr>
          <p:cNvSpPr>
            <a:spLocks xmlns:a="http://schemas.openxmlformats.org/drawingml/2006/main" noGrp="1"/>
          </p:cNvSpPr>
          <p:nvPr/>
        </p:nvSpPr>
        <p:spPr>
          <a:xfrm xmlns:a="http://schemas.openxmlformats.org/drawingml/2006/main">
            <a:off x="533400" y="19050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9 questions in the bank. 3 questions per run.</a:t>
            </a:r>
          </a:p>
        </p:txBody>
      </p:sp>
      <p:sp>
        <p:nvSpPr>
          <p:cNvPr id="6" name="text-5">
            <a:extLst xmlns:a="http://schemas.openxmlformats.org/drawingml/2006/main">
              <a:ext uri="{FF2B5EF4-FFF2-40B4-BE49-F238E27FC236}">
                <a16:creationId xmlns:a16="http://schemas.microsoft.com/office/drawing/2014/main" id="{6AF4B709-6DCA-42D3-809E-CA7D3888182C}"/>
              </a:ext>
            </a:extLst>
          </p:cNvPr>
          <p:cNvSpPr>
            <a:spLocks xmlns:a="http://schemas.openxmlformats.org/drawingml/2006/main" noGrp="1"/>
          </p:cNvSpPr>
          <p:nvPr/>
        </p:nvSpPr>
        <p:spPr>
          <a:xfrm xmlns:a="http://schemas.openxmlformats.org/drawingml/2006/main">
            <a:off x="533400" y="27336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local order = {1, 2, 3}</a:t>
            </a:r>
          </a:p>
        </p:txBody>
      </p:sp>
      <p:sp>
        <p:nvSpPr>
          <p:cNvPr id="7" name="text-6">
            <a:extLst xmlns:a="http://schemas.openxmlformats.org/drawingml/2006/main">
              <a:ext uri="{FF2B5EF4-FFF2-40B4-BE49-F238E27FC236}">
                <a16:creationId xmlns:a16="http://schemas.microsoft.com/office/drawing/2014/main" id="{DC890E97-A431-4FA4-8482-A3D675126BEB}"/>
              </a:ext>
            </a:extLst>
          </p:cNvPr>
          <p:cNvSpPr>
            <a:spLocks xmlns:a="http://schemas.openxmlformats.org/drawingml/2006/main" noGrp="1"/>
          </p:cNvSpPr>
          <p:nvPr/>
        </p:nvSpPr>
        <p:spPr>
          <a:xfrm xmlns:a="http://schemas.openxmlformats.org/drawingml/2006/main">
            <a:off x="533400" y="30956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for i = 3, 2, -1 do</a:t>
            </a:r>
          </a:p>
        </p:txBody>
      </p:sp>
      <p:sp>
        <p:nvSpPr>
          <p:cNvPr id="8" name="text-7">
            <a:extLst xmlns:a="http://schemas.openxmlformats.org/drawingml/2006/main">
              <a:ext uri="{FF2B5EF4-FFF2-40B4-BE49-F238E27FC236}">
                <a16:creationId xmlns:a16="http://schemas.microsoft.com/office/drawing/2014/main" id="{726F0DCB-F6BF-4B22-95E1-8E1D70BEB431}"/>
              </a:ext>
            </a:extLst>
          </p:cNvPr>
          <p:cNvSpPr>
            <a:spLocks xmlns:a="http://schemas.openxmlformats.org/drawingml/2006/main" noGrp="1"/>
          </p:cNvSpPr>
          <p:nvPr/>
        </p:nvSpPr>
        <p:spPr>
          <a:xfrm xmlns:a="http://schemas.openxmlformats.org/drawingml/2006/main">
            <a:off x="533400" y="34575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    local j = random:NextInteger(1, i)</a:t>
            </a:r>
          </a:p>
        </p:txBody>
      </p:sp>
      <p:sp>
        <p:nvSpPr>
          <p:cNvPr id="9" name="text-8">
            <a:extLst xmlns:a="http://schemas.openxmlformats.org/drawingml/2006/main">
              <a:ext uri="{FF2B5EF4-FFF2-40B4-BE49-F238E27FC236}">
                <a16:creationId xmlns:a16="http://schemas.microsoft.com/office/drawing/2014/main" id="{4EEF0800-4842-4064-B25C-2ECFD190EB05}"/>
              </a:ext>
            </a:extLst>
          </p:cNvPr>
          <p:cNvSpPr>
            <a:spLocks xmlns:a="http://schemas.openxmlformats.org/drawingml/2006/main" noGrp="1"/>
          </p:cNvSpPr>
          <p:nvPr/>
        </p:nvSpPr>
        <p:spPr>
          <a:xfrm xmlns:a="http://schemas.openxmlformats.org/drawingml/2006/main">
            <a:off x="533400" y="381952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    order[i], order[j] = order[j], order[i]</a:t>
            </a:r>
          </a:p>
        </p:txBody>
      </p:sp>
      <p:sp>
        <p:nvSpPr>
          <p:cNvPr id="10" name="text-9">
            <a:extLst xmlns:a="http://schemas.openxmlformats.org/drawingml/2006/main">
              <a:ext uri="{FF2B5EF4-FFF2-40B4-BE49-F238E27FC236}">
                <a16:creationId xmlns:a16="http://schemas.microsoft.com/office/drawing/2014/main" id="{F9416198-A24A-4CEB-B67B-189A0781C998}"/>
              </a:ext>
            </a:extLst>
          </p:cNvPr>
          <p:cNvSpPr>
            <a:spLocks xmlns:a="http://schemas.openxmlformats.org/drawingml/2006/main" noGrp="1"/>
          </p:cNvSpPr>
          <p:nvPr/>
        </p:nvSpPr>
        <p:spPr>
          <a:xfrm xmlns:a="http://schemas.openxmlformats.org/drawingml/2006/main">
            <a:off x="533400" y="4181475"/>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end</a:t>
            </a:r>
          </a:p>
        </p:txBody>
      </p:sp>
      <p:sp>
        <p:nvSpPr>
          <p:cNvPr id="11" name="text-10">
            <a:extLst xmlns:a="http://schemas.openxmlformats.org/drawingml/2006/main">
              <a:ext uri="{FF2B5EF4-FFF2-40B4-BE49-F238E27FC236}">
                <a16:creationId xmlns:a16="http://schemas.microsoft.com/office/drawing/2014/main" id="{0F2D6701-6FA6-40AF-B391-5A86929DDF0C}"/>
              </a:ext>
            </a:extLst>
          </p:cNvPr>
          <p:cNvSpPr>
            <a:spLocks xmlns:a="http://schemas.openxmlformats.org/drawingml/2006/main" noGrp="1"/>
          </p:cNvSpPr>
          <p:nvPr/>
        </p:nvSpPr>
        <p:spPr>
          <a:xfrm xmlns:a="http://schemas.openxmlformats.org/drawingml/2006/main">
            <a:off x="533400" y="51339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Arial"/>
                <a:ea typeface="Arial"/>
                <a:cs typeface="Arial"/>
              </a:defRPr>
            </a:pPr>
            <a:r>
              <a:rPr sz="2175" b="0">
                <a:solidFill>
                  <a:srgbClr val="F6F2E7"/>
                </a:solidFill>
                <a:latin typeface="Arial"/>
                <a:ea typeface="Arial"/>
                <a:cs typeface="Arial"/>
              </a:rPr>
              <a:t>The loop swaps answer positions before the player sees them.</a:t>
            </a:r>
          </a:p>
        </p:txBody>
      </p:sp>
    </p:spTree>
    <p:extLst>
      <p:ext uri="{BB962C8B-B14F-4D97-AF65-F5344CB8AC3E}">
        <p14:creationId xmlns:p14="http://schemas.microsoft.com/office/powerpoint/2010/main" val="370845180"/>
      </p:ext>
    </p:extLst>
  </p:cSld>
</p:sld>
</file>

<file path=ppt/slides/slide8.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0FBFE9F-63D0-4311-A2B0-14946BFBA64B}"/>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60BFDBAD-38B3-4CE6-9CB9-CDDF9294D845}"/>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Professor Popquiz</a:t>
            </a:r>
          </a:p>
        </p:txBody>
      </p:sp>
      <p:sp>
        <p:nvSpPr>
          <p:cNvPr id="3" name="text-2">
            <a:extLst xmlns:a="http://schemas.openxmlformats.org/drawingml/2006/main">
              <a:ext uri="{FF2B5EF4-FFF2-40B4-BE49-F238E27FC236}">
                <a16:creationId xmlns:a16="http://schemas.microsoft.com/office/drawing/2014/main" id="{C3CB34CA-EA42-4C1D-AC55-CBEA1580252E}"/>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Emaury Onyeneho</a:t>
            </a:r>
          </a:p>
        </p:txBody>
      </p:sp>
      <p:sp>
        <p:nvSpPr>
          <p:cNvPr id="4" name="text-3">
            <a:extLst xmlns:a="http://schemas.openxmlformats.org/drawingml/2006/main">
              <a:ext uri="{FF2B5EF4-FFF2-40B4-BE49-F238E27FC236}">
                <a16:creationId xmlns:a16="http://schemas.microsoft.com/office/drawing/2014/main" id="{3C80F1F4-B105-49FE-AD0E-241A8954AEE0}"/>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3b05addd93b42d1"/>
          <a:srcRect xmlns:a="http://schemas.openxmlformats.org/drawingml/2006/main" l="65" t="0" r="65" b="0"/>
          <a:stretch xmlns:a="http://schemas.openxmlformats.org/drawingml/2006/main">
            <a:fillRect l="0" t="0" r="0" b="0"/>
          </a:stretch>
        </p:blipFill>
        <p:spPr>
          <a:xfrm xmlns:a="http://schemas.openxmlformats.org/drawingml/2006/main">
            <a:off x="5334000" y="1809750"/>
            <a:ext cx="6324600" cy="44005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71C11729-97BC-49A3-B2C8-53C4607CDB6F}"/>
              </a:ext>
            </a:extLst>
          </p:cNvPr>
          <p:cNvSpPr>
            <a:spLocks xmlns:a="http://schemas.openxmlformats.org/drawingml/2006/main" noGrp="1"/>
          </p:cNvSpPr>
          <p:nvPr/>
        </p:nvSpPr>
        <p:spPr>
          <a:xfrm xmlns:a="http://schemas.openxmlformats.org/drawingml/2006/main">
            <a:off x="533400" y="2095500"/>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Recognizable silhouette</a:t>
            </a:r>
          </a:p>
        </p:txBody>
      </p:sp>
      <p:sp>
        <p:nvSpPr>
          <p:cNvPr id="7" name="text-5">
            <a:extLst xmlns:a="http://schemas.openxmlformats.org/drawingml/2006/main">
              <a:ext uri="{FF2B5EF4-FFF2-40B4-BE49-F238E27FC236}">
                <a16:creationId xmlns:a16="http://schemas.microsoft.com/office/drawing/2014/main" id="{BF6F3527-B828-47DD-9BA4-FF24F2305EFA}"/>
              </a:ext>
            </a:extLst>
          </p:cNvPr>
          <p:cNvSpPr>
            <a:spLocks xmlns:a="http://schemas.openxmlformats.org/drawingml/2006/main" noGrp="1"/>
          </p:cNvSpPr>
          <p:nvPr/>
        </p:nvSpPr>
        <p:spPr>
          <a:xfrm xmlns:a="http://schemas.openxmlformats.org/drawingml/2006/main">
            <a:off x="533400" y="2543175"/>
            <a:ext cx="4400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Yellow hoodie and dark trousers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stand out against the school.</a:t>
            </a:r>
          </a:p>
        </p:txBody>
      </p:sp>
      <p:sp>
        <p:nvSpPr>
          <p:cNvPr id="8" name="text-6">
            <a:extLst xmlns:a="http://schemas.openxmlformats.org/drawingml/2006/main">
              <a:ext uri="{FF2B5EF4-FFF2-40B4-BE49-F238E27FC236}">
                <a16:creationId xmlns:a16="http://schemas.microsoft.com/office/drawing/2014/main" id="{97260D47-91EC-4274-8586-475C5945309B}"/>
              </a:ext>
            </a:extLst>
          </p:cNvPr>
          <p:cNvSpPr>
            <a:spLocks xmlns:a="http://schemas.openxmlformats.org/drawingml/2006/main" noGrp="1"/>
          </p:cNvSpPr>
          <p:nvPr/>
        </p:nvSpPr>
        <p:spPr>
          <a:xfrm xmlns:a="http://schemas.openxmlformats.org/drawingml/2006/main">
            <a:off x="533400" y="40957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A playful threat</a:t>
            </a:r>
          </a:p>
        </p:txBody>
      </p:sp>
      <p:sp>
        <p:nvSpPr>
          <p:cNvPr id="9" name="text-7">
            <a:extLst xmlns:a="http://schemas.openxmlformats.org/drawingml/2006/main">
              <a:ext uri="{FF2B5EF4-FFF2-40B4-BE49-F238E27FC236}">
                <a16:creationId xmlns:a16="http://schemas.microsoft.com/office/drawing/2014/main" id="{1AE5B81A-F4FF-41E3-AE89-75B5E93E932C}"/>
              </a:ext>
            </a:extLst>
          </p:cNvPr>
          <p:cNvSpPr>
            <a:spLocks xmlns:a="http://schemas.openxmlformats.org/drawingml/2006/main" noGrp="1"/>
          </p:cNvSpPr>
          <p:nvPr/>
        </p:nvSpPr>
        <p:spPr>
          <a:xfrm xmlns:a="http://schemas.openxmlformats.org/drawingml/2006/main">
            <a:off x="533400" y="454342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A school-themed pursuer with</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lines about extra credit.</a:t>
            </a:r>
          </a:p>
        </p:txBody>
      </p:sp>
    </p:spTree>
    <p:extLst>
      <p:ext uri="{BB962C8B-B14F-4D97-AF65-F5344CB8AC3E}">
        <p14:creationId xmlns:p14="http://schemas.microsoft.com/office/powerpoint/2010/main" val="176542739"/>
      </p:ext>
    </p:extLst>
  </p:cSld>
</p:sld>
</file>

<file path=ppt/slides/slide9.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4F3DED7-9E6E-428D-B087-E1DE90FF448C}"/>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3BB2590F-DF69-4A77-A717-74CC87C4A260}"/>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A school that explains the game</a:t>
            </a:r>
          </a:p>
        </p:txBody>
      </p:sp>
      <p:sp>
        <p:nvSpPr>
          <p:cNvPr id="3" name="text-2">
            <a:extLst xmlns:a="http://schemas.openxmlformats.org/drawingml/2006/main">
              <a:ext uri="{FF2B5EF4-FFF2-40B4-BE49-F238E27FC236}">
                <a16:creationId xmlns:a16="http://schemas.microsoft.com/office/drawing/2014/main" id="{F24014E5-8722-4D2D-9176-52737D118FB9}"/>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Emaury Onyeneho</a:t>
            </a:r>
          </a:p>
        </p:txBody>
      </p:sp>
      <p:sp>
        <p:nvSpPr>
          <p:cNvPr id="4" name="text-3">
            <a:extLst xmlns:a="http://schemas.openxmlformats.org/drawingml/2006/main">
              <a:ext uri="{FF2B5EF4-FFF2-40B4-BE49-F238E27FC236}">
                <a16:creationId xmlns:a16="http://schemas.microsoft.com/office/drawing/2014/main" id="{F32154A3-07E6-4248-9B3B-E503ECAA8CBD}"/>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72765246424040"/>
          <a:srcRect xmlns:a="http://schemas.openxmlformats.org/drawingml/2006/main" l="0" t="7162" r="0" b="7162"/>
          <a:stretch xmlns:a="http://schemas.openxmlformats.org/drawingml/2006/main">
            <a:fillRect l="0" t="0" r="0" b="0"/>
          </a:stretch>
        </p:blipFill>
        <p:spPr>
          <a:xfrm xmlns:a="http://schemas.openxmlformats.org/drawingml/2006/main">
            <a:off x="533400" y="1943100"/>
            <a:ext cx="6943725" cy="41338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E897E7A9-1D07-4883-9EBC-9BB95F50DAF8}"/>
              </a:ext>
            </a:extLst>
          </p:cNvPr>
          <p:cNvSpPr>
            <a:spLocks xmlns:a="http://schemas.openxmlformats.org/drawingml/2006/main" noGrp="1"/>
          </p:cNvSpPr>
          <p:nvPr/>
        </p:nvSpPr>
        <p:spPr>
          <a:xfrm xmlns:a="http://schemas.openxmlformats.org/drawingml/2006/main">
            <a:off x="7886700" y="20859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Readable routes</a:t>
            </a:r>
          </a:p>
        </p:txBody>
      </p:sp>
      <p:sp>
        <p:nvSpPr>
          <p:cNvPr id="7" name="text-5">
            <a:extLst xmlns:a="http://schemas.openxmlformats.org/drawingml/2006/main">
              <a:ext uri="{FF2B5EF4-FFF2-40B4-BE49-F238E27FC236}">
                <a16:creationId xmlns:a16="http://schemas.microsoft.com/office/drawing/2014/main" id="{661DFA32-7149-4CBD-A0C9-892F6E745634}"/>
              </a:ext>
            </a:extLst>
          </p:cNvPr>
          <p:cNvSpPr>
            <a:spLocks xmlns:a="http://schemas.openxmlformats.org/drawingml/2006/main" noGrp="1"/>
          </p:cNvSpPr>
          <p:nvPr/>
        </p:nvSpPr>
        <p:spPr>
          <a:xfrm xmlns:a="http://schemas.openxmlformats.org/drawingml/2006/main">
            <a:off x="7886700" y="2533650"/>
            <a:ext cx="3762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Numbered doors and signs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point toward the next room.</a:t>
            </a:r>
          </a:p>
        </p:txBody>
      </p:sp>
      <p:sp>
        <p:nvSpPr>
          <p:cNvPr id="8" name="text-6">
            <a:extLst xmlns:a="http://schemas.openxmlformats.org/drawingml/2006/main">
              <a:ext uri="{FF2B5EF4-FFF2-40B4-BE49-F238E27FC236}">
                <a16:creationId xmlns:a16="http://schemas.microsoft.com/office/drawing/2014/main" id="{C7C8FC37-1F92-4140-B15B-5D4782A09170}"/>
              </a:ext>
            </a:extLst>
          </p:cNvPr>
          <p:cNvSpPr>
            <a:spLocks xmlns:a="http://schemas.openxmlformats.org/drawingml/2006/main" noGrp="1"/>
          </p:cNvSpPr>
          <p:nvPr/>
        </p:nvSpPr>
        <p:spPr>
          <a:xfrm xmlns:a="http://schemas.openxmlformats.org/drawingml/2006/main">
            <a:off x="7886700" y="41052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Purposeful detail</a:t>
            </a:r>
          </a:p>
        </p:txBody>
      </p:sp>
      <p:sp>
        <p:nvSpPr>
          <p:cNvPr id="9" name="text-7">
            <a:extLst xmlns:a="http://schemas.openxmlformats.org/drawingml/2006/main">
              <a:ext uri="{FF2B5EF4-FFF2-40B4-BE49-F238E27FC236}">
                <a16:creationId xmlns:a16="http://schemas.microsoft.com/office/drawing/2014/main" id="{EEFDFF11-FD84-4E1C-AEFD-55A24E8082E9}"/>
              </a:ext>
            </a:extLst>
          </p:cNvPr>
          <p:cNvSpPr>
            <a:spLocks xmlns:a="http://schemas.openxmlformats.org/drawingml/2006/main" noGrp="1"/>
          </p:cNvSpPr>
          <p:nvPr/>
        </p:nvSpPr>
        <p:spPr>
          <a:xfrm xmlns:a="http://schemas.openxmlformats.org/drawingml/2006/main">
            <a:off x="7886700" y="4552950"/>
            <a:ext cx="3762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Color, light, and school props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make objectives easier to find.</a:t>
            </a:r>
          </a:p>
        </p:txBody>
      </p:sp>
    </p:spTree>
    <p:extLst>
      <p:ext uri="{BB962C8B-B14F-4D97-AF65-F5344CB8AC3E}">
        <p14:creationId xmlns:p14="http://schemas.microsoft.com/office/powerpoint/2010/main" val="1675258621"/>
      </p:ext>
    </p:extLst>
  </p:cSld>
</p:sld>
</file>

<file path=ppt/slides/slide10.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2AD9032-CA1D-4245-BAF4-8E741F643673}"/>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41FB8BF0-CBCF-40C3-9D59-342017F7E932}"/>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The interface helps players decide</a:t>
            </a:r>
          </a:p>
        </p:txBody>
      </p:sp>
      <p:sp>
        <p:nvSpPr>
          <p:cNvPr id="3" name="text-2">
            <a:extLst xmlns:a="http://schemas.openxmlformats.org/drawingml/2006/main">
              <a:ext uri="{FF2B5EF4-FFF2-40B4-BE49-F238E27FC236}">
                <a16:creationId xmlns:a16="http://schemas.microsoft.com/office/drawing/2014/main" id="{E5E4EDEF-69A4-4128-BBAE-6A74C2181EA8}"/>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Emaury Onyeneho</a:t>
            </a:r>
          </a:p>
        </p:txBody>
      </p:sp>
      <p:sp>
        <p:nvSpPr>
          <p:cNvPr id="4" name="text-3">
            <a:extLst xmlns:a="http://schemas.openxmlformats.org/drawingml/2006/main">
              <a:ext uri="{FF2B5EF4-FFF2-40B4-BE49-F238E27FC236}">
                <a16:creationId xmlns:a16="http://schemas.microsoft.com/office/drawing/2014/main" id="{992E9E7E-24CD-4708-91B9-2A8CA41E67A5}"/>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9a51abe3a194431"/>
          <a:stretch xmlns:a="http://schemas.openxmlformats.org/drawingml/2006/main"/>
        </p:blipFill>
        <p:spPr>
          <a:xfrm xmlns:a="http://schemas.openxmlformats.org/drawingml/2006/main">
            <a:off x="715931" y="1857375"/>
            <a:ext cx="6264338" cy="4352925"/>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515800D3-6AC2-4BBD-A1F0-5DB3FC5F6A59}"/>
              </a:ext>
            </a:extLst>
          </p:cNvPr>
          <p:cNvSpPr>
            <a:spLocks xmlns:a="http://schemas.openxmlformats.org/drawingml/2006/main" noGrp="1"/>
          </p:cNvSpPr>
          <p:nvPr/>
        </p:nvSpPr>
        <p:spPr>
          <a:xfrm xmlns:a="http://schemas.openxmlformats.org/drawingml/2006/main">
            <a:off x="7600950" y="2066925"/>
            <a:ext cx="4038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7F88"/>
                </a:solidFill>
                <a:latin typeface="Arial"/>
                <a:ea typeface="Arial"/>
                <a:cs typeface="Arial"/>
              </a:defRPr>
            </a:pPr>
            <a:r>
              <a:rPr sz="2175" b="1">
                <a:solidFill>
                  <a:srgbClr val="177F88"/>
                </a:solidFill>
                <a:latin typeface="Arial"/>
                <a:ea typeface="Arial"/>
                <a:cs typeface="Arial"/>
              </a:rPr>
              <a:t>Objective and timer</a:t>
            </a:r>
          </a:p>
        </p:txBody>
      </p:sp>
      <p:sp>
        <p:nvSpPr>
          <p:cNvPr id="7" name="text-5">
            <a:extLst xmlns:a="http://schemas.openxmlformats.org/drawingml/2006/main">
              <a:ext uri="{FF2B5EF4-FFF2-40B4-BE49-F238E27FC236}">
                <a16:creationId xmlns:a16="http://schemas.microsoft.com/office/drawing/2014/main" id="{E6D5A424-B06A-4E55-9DC3-FE12EDC3268F}"/>
              </a:ext>
            </a:extLst>
          </p:cNvPr>
          <p:cNvSpPr>
            <a:spLocks xmlns:a="http://schemas.openxmlformats.org/drawingml/2006/main" noGrp="1"/>
          </p:cNvSpPr>
          <p:nvPr/>
        </p:nvSpPr>
        <p:spPr>
          <a:xfrm xmlns:a="http://schemas.openxmlformats.org/drawingml/2006/main">
            <a:off x="7600950" y="2590800"/>
            <a:ext cx="4038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2E42"/>
                </a:solidFill>
                <a:latin typeface="Arial"/>
                <a:ea typeface="Arial"/>
                <a:cs typeface="Arial"/>
              </a:defRPr>
            </a:pPr>
            <a:r>
              <a:rPr sz="1950" b="0">
                <a:solidFill>
                  <a:srgbClr val="172E42"/>
                </a:solidFill>
                <a:latin typeface="Arial"/>
                <a:ea typeface="Arial"/>
                <a:cs typeface="Arial"/>
              </a:rPr>
              <a:t>Players can see the next task</a:t>
            </a:r>
          </a:p>
          <a:p xmlns:a="http://schemas.openxmlformats.org/drawingml/2006/main">
            <a:pPr>
              <a:defRPr sz="1950" b="0">
                <a:solidFill>
                  <a:srgbClr val="172E42"/>
                </a:solidFill>
                <a:latin typeface="Arial"/>
                <a:ea typeface="Arial"/>
                <a:cs typeface="Arial"/>
              </a:defRPr>
            </a:pPr>
            <a:r>
              <a:rPr sz="1950" b="0">
                <a:solidFill>
                  <a:srgbClr val="172E42"/>
                </a:solidFill>
                <a:latin typeface="Arial"/>
                <a:ea typeface="Arial"/>
                <a:cs typeface="Arial"/>
              </a:rPr>
              <a:t>and track their escape time.</a:t>
            </a:r>
          </a:p>
        </p:txBody>
      </p:sp>
      <p:sp>
        <p:nvSpPr>
          <p:cNvPr id="8" name="text-6">
            <a:extLst xmlns:a="http://schemas.openxmlformats.org/drawingml/2006/main">
              <a:ext uri="{FF2B5EF4-FFF2-40B4-BE49-F238E27FC236}">
                <a16:creationId xmlns:a16="http://schemas.microsoft.com/office/drawing/2014/main" id="{D97D1277-E4D0-469A-9571-30CEC76D5A22}"/>
              </a:ext>
            </a:extLst>
          </p:cNvPr>
          <p:cNvSpPr>
            <a:spLocks xmlns:a="http://schemas.openxmlformats.org/drawingml/2006/main" noGrp="1"/>
          </p:cNvSpPr>
          <p:nvPr/>
        </p:nvSpPr>
        <p:spPr>
          <a:xfrm xmlns:a="http://schemas.openxmlformats.org/drawingml/2006/main">
            <a:off x="7600950" y="35909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7F88"/>
                </a:solidFill>
                <a:latin typeface="Arial"/>
                <a:ea typeface="Arial"/>
                <a:cs typeface="Arial"/>
              </a:defRPr>
            </a:pPr>
            <a:r>
              <a:rPr sz="2175" b="1">
                <a:solidFill>
                  <a:srgbClr val="177F88"/>
                </a:solidFill>
                <a:latin typeface="Arial"/>
                <a:ea typeface="Arial"/>
                <a:cs typeface="Arial"/>
              </a:rPr>
              <a:t>Stamina bar</a:t>
            </a:r>
          </a:p>
        </p:txBody>
      </p:sp>
      <p:sp>
        <p:nvSpPr>
          <p:cNvPr id="9" name="text-7">
            <a:extLst xmlns:a="http://schemas.openxmlformats.org/drawingml/2006/main">
              <a:ext uri="{FF2B5EF4-FFF2-40B4-BE49-F238E27FC236}">
                <a16:creationId xmlns:a16="http://schemas.microsoft.com/office/drawing/2014/main" id="{67E04853-54D2-48C2-B436-2D258AE1BCAA}"/>
              </a:ext>
            </a:extLst>
          </p:cNvPr>
          <p:cNvSpPr>
            <a:spLocks xmlns:a="http://schemas.openxmlformats.org/drawingml/2006/main" noGrp="1"/>
          </p:cNvSpPr>
          <p:nvPr/>
        </p:nvSpPr>
        <p:spPr>
          <a:xfrm xmlns:a="http://schemas.openxmlformats.org/drawingml/2006/main">
            <a:off x="7600950" y="4067175"/>
            <a:ext cx="4000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0 = empty</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1 = full</a:t>
            </a:r>
          </a:p>
        </p:txBody>
      </p:sp>
      <p:sp>
        <p:nvSpPr>
          <p:cNvPr id="10" name="text-8">
            <a:extLst xmlns:a="http://schemas.openxmlformats.org/drawingml/2006/main">
              <a:ext uri="{FF2B5EF4-FFF2-40B4-BE49-F238E27FC236}">
                <a16:creationId xmlns:a16="http://schemas.microsoft.com/office/drawing/2014/main" id="{328D29AF-BD04-4272-B18C-7CEFFFAD4EB3}"/>
              </a:ext>
            </a:extLst>
          </p:cNvPr>
          <p:cNvSpPr>
            <a:spLocks xmlns:a="http://schemas.openxmlformats.org/drawingml/2006/main" noGrp="1"/>
          </p:cNvSpPr>
          <p:nvPr/>
        </p:nvSpPr>
        <p:spPr>
          <a:xfrm xmlns:a="http://schemas.openxmlformats.org/drawingml/2006/main">
            <a:off x="7600950" y="5133975"/>
            <a:ext cx="4114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72E42"/>
                </a:solidFill>
                <a:latin typeface="Consolas"/>
                <a:ea typeface="Consolas"/>
                <a:cs typeface="Consolas"/>
              </a:defRPr>
            </a:pPr>
            <a:r>
              <a:rPr sz="1725" b="0">
                <a:solidFill>
                  <a:srgbClr val="172E42"/>
                </a:solidFill>
                <a:latin typeface="Consolas"/>
                <a:ea typeface="Consolas"/>
                <a:cs typeface="Consolas"/>
              </a:rPr>
              <a:t>math.clamp(value, 0, 1)</a:t>
            </a:r>
          </a:p>
        </p:txBody>
      </p:sp>
      <p:sp>
        <p:nvSpPr>
          <p:cNvPr id="11" name="text-9">
            <a:extLst xmlns:a="http://schemas.openxmlformats.org/drawingml/2006/main">
              <a:ext uri="{FF2B5EF4-FFF2-40B4-BE49-F238E27FC236}">
                <a16:creationId xmlns:a16="http://schemas.microsoft.com/office/drawing/2014/main" id="{3BAA0AA0-4D47-41B5-97E2-5D5917636152}"/>
              </a:ext>
            </a:extLst>
          </p:cNvPr>
          <p:cNvSpPr>
            <a:spLocks xmlns:a="http://schemas.openxmlformats.org/drawingml/2006/main" noGrp="1"/>
          </p:cNvSpPr>
          <p:nvPr/>
        </p:nvSpPr>
        <p:spPr>
          <a:xfrm xmlns:a="http://schemas.openxmlformats.org/drawingml/2006/main">
            <a:off x="7600950" y="5705475"/>
            <a:ext cx="4076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77F88"/>
                </a:solidFill>
                <a:latin typeface="Arial"/>
                <a:ea typeface="Arial"/>
                <a:cs typeface="Arial"/>
              </a:defRPr>
            </a:pPr>
            <a:r>
              <a:rPr sz="1500" b="0">
                <a:solidFill>
                  <a:srgbClr val="177F88"/>
                </a:solidFill>
                <a:latin typeface="Arial"/>
                <a:ea typeface="Arial"/>
                <a:cs typeface="Arial"/>
              </a:rPr>
              <a:t>Stamina code appears in the appendix.</a:t>
            </a:r>
          </a:p>
        </p:txBody>
      </p:sp>
    </p:spTree>
    <p:extLst>
      <p:ext uri="{BB962C8B-B14F-4D97-AF65-F5344CB8AC3E}">
        <p14:creationId xmlns:p14="http://schemas.microsoft.com/office/powerpoint/2010/main" val="894871479"/>
      </p:ext>
    </p:extLst>
  </p:cSld>
</p:sld>
</file>

<file path=ppt/slides/slide11.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153577B-E25B-40E5-915E-21389056F226}"/>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E97B67E9-C671-44F7-AC62-6BADFD5970B3}"/>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Testing checked rules and movement</a:t>
            </a:r>
          </a:p>
        </p:txBody>
      </p:sp>
      <p:sp>
        <p:nvSpPr>
          <p:cNvPr id="3" name="text-2">
            <a:extLst xmlns:a="http://schemas.openxmlformats.org/drawingml/2006/main">
              <a:ext uri="{FF2B5EF4-FFF2-40B4-BE49-F238E27FC236}">
                <a16:creationId xmlns:a16="http://schemas.microsoft.com/office/drawing/2014/main" id="{127EB343-552D-4583-9418-AF070528B8F0}"/>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Tobenna Uyanwune</a:t>
            </a:r>
          </a:p>
        </p:txBody>
      </p:sp>
      <p:sp>
        <p:nvSpPr>
          <p:cNvPr id="4" name="text-3">
            <a:extLst xmlns:a="http://schemas.openxmlformats.org/drawingml/2006/main">
              <a:ext uri="{FF2B5EF4-FFF2-40B4-BE49-F238E27FC236}">
                <a16:creationId xmlns:a16="http://schemas.microsoft.com/office/drawing/2014/main" id="{376A5B3B-840E-42BD-9575-8CC841469746}"/>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11</a:t>
            </a:r>
          </a:p>
        </p:txBody>
      </p:sp>
      <p:sp>
        <p:nvSpPr>
          <p:cNvPr id="5" name="text-4">
            <a:extLst xmlns:a="http://schemas.openxmlformats.org/drawingml/2006/main">
              <a:ext uri="{FF2B5EF4-FFF2-40B4-BE49-F238E27FC236}">
                <a16:creationId xmlns:a16="http://schemas.microsoft.com/office/drawing/2014/main" id="{449FE6A9-D84D-4D2E-B3DB-3774DF2BEB9F}"/>
              </a:ext>
            </a:extLst>
          </p:cNvPr>
          <p:cNvSpPr>
            <a:spLocks xmlns:a="http://schemas.openxmlformats.org/drawingml/2006/main" noGrp="1"/>
          </p:cNvSpPr>
          <p:nvPr/>
        </p:nvSpPr>
        <p:spPr>
          <a:xfrm xmlns:a="http://schemas.openxmlformats.org/drawingml/2006/main">
            <a:off x="533400" y="2076450"/>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77F88"/>
                </a:solidFill>
                <a:latin typeface="Arial"/>
                <a:ea typeface="Arial"/>
                <a:cs typeface="Arial"/>
              </a:defRPr>
            </a:pPr>
            <a:r>
              <a:rPr sz="2400" b="1">
                <a:solidFill>
                  <a:srgbClr val="177F88"/>
                </a:solidFill>
                <a:latin typeface="Arial"/>
                <a:ea typeface="Arial"/>
                <a:cs typeface="Arial"/>
              </a:rPr>
              <a:t>100 quiz decks</a:t>
            </a:r>
          </a:p>
        </p:txBody>
      </p:sp>
      <p:sp>
        <p:nvSpPr>
          <p:cNvPr id="6" name="text-5">
            <a:extLst xmlns:a="http://schemas.openxmlformats.org/drawingml/2006/main">
              <a:ext uri="{FF2B5EF4-FFF2-40B4-BE49-F238E27FC236}">
                <a16:creationId xmlns:a16="http://schemas.microsoft.com/office/drawing/2014/main" id="{EF10D82D-D922-43AE-AEE8-E143E4D8B44B}"/>
              </a:ext>
            </a:extLst>
          </p:cNvPr>
          <p:cNvSpPr>
            <a:spLocks xmlns:a="http://schemas.openxmlformats.org/drawingml/2006/main" noGrp="1"/>
          </p:cNvSpPr>
          <p:nvPr/>
        </p:nvSpPr>
        <p:spPr>
          <a:xfrm xmlns:a="http://schemas.openxmlformats.org/drawingml/2006/main">
            <a:off x="4572000" y="2095500"/>
            <a:ext cx="704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All questions and answer positions appeared</a:t>
            </a:r>
          </a:p>
        </p:txBody>
      </p:sp>
      <p:sp>
        <p:nvSpPr>
          <p:cNvPr id="7" name="text-6">
            <a:extLst xmlns:a="http://schemas.openxmlformats.org/drawingml/2006/main">
              <a:ext uri="{FF2B5EF4-FFF2-40B4-BE49-F238E27FC236}">
                <a16:creationId xmlns:a16="http://schemas.microsoft.com/office/drawing/2014/main" id="{2C6274DD-B9E4-40EC-95DE-2394CE00578C}"/>
              </a:ext>
            </a:extLst>
          </p:cNvPr>
          <p:cNvSpPr>
            <a:spLocks xmlns:a="http://schemas.openxmlformats.org/drawingml/2006/main" noGrp="1"/>
          </p:cNvSpPr>
          <p:nvPr/>
        </p:nvSpPr>
        <p:spPr>
          <a:xfrm xmlns:a="http://schemas.openxmlformats.org/drawingml/2006/main">
            <a:off x="533400" y="2943225"/>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77F88"/>
                </a:solidFill>
                <a:latin typeface="Arial"/>
                <a:ea typeface="Arial"/>
                <a:cs typeface="Arial"/>
              </a:defRPr>
            </a:pPr>
            <a:r>
              <a:rPr sz="2400" b="1">
                <a:solidFill>
                  <a:srgbClr val="177F88"/>
                </a:solidFill>
                <a:latin typeface="Arial"/>
                <a:ea typeface="Arial"/>
                <a:cs typeface="Arial"/>
              </a:rPr>
              <a:t>6 progression checks</a:t>
            </a:r>
          </a:p>
        </p:txBody>
      </p:sp>
      <p:sp>
        <p:nvSpPr>
          <p:cNvPr id="8" name="text-7">
            <a:extLst xmlns:a="http://schemas.openxmlformats.org/drawingml/2006/main">
              <a:ext uri="{FF2B5EF4-FFF2-40B4-BE49-F238E27FC236}">
                <a16:creationId xmlns:a16="http://schemas.microsoft.com/office/drawing/2014/main" id="{C31B7BC0-C347-4709-A835-74950F09E47B}"/>
              </a:ext>
            </a:extLst>
          </p:cNvPr>
          <p:cNvSpPr>
            <a:spLocks xmlns:a="http://schemas.openxmlformats.org/drawingml/2006/main" noGrp="1"/>
          </p:cNvSpPr>
          <p:nvPr/>
        </p:nvSpPr>
        <p:spPr>
          <a:xfrm xmlns:a="http://schemas.openxmlformats.org/drawingml/2006/main">
            <a:off x="4572000" y="2962275"/>
            <a:ext cx="704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Room, quiz, and exit requirements passed</a:t>
            </a:r>
          </a:p>
        </p:txBody>
      </p:sp>
      <p:sp>
        <p:nvSpPr>
          <p:cNvPr id="9" name="text-8">
            <a:extLst xmlns:a="http://schemas.openxmlformats.org/drawingml/2006/main">
              <a:ext uri="{FF2B5EF4-FFF2-40B4-BE49-F238E27FC236}">
                <a16:creationId xmlns:a16="http://schemas.microsoft.com/office/drawing/2014/main" id="{FADF5FF9-E01D-4B58-B97C-1815E76B5C1D}"/>
              </a:ext>
            </a:extLst>
          </p:cNvPr>
          <p:cNvSpPr>
            <a:spLocks xmlns:a="http://schemas.openxmlformats.org/drawingml/2006/main" noGrp="1"/>
          </p:cNvSpPr>
          <p:nvPr/>
        </p:nvSpPr>
        <p:spPr>
          <a:xfrm xmlns:a="http://schemas.openxmlformats.org/drawingml/2006/main">
            <a:off x="533400" y="3810000"/>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77F88"/>
                </a:solidFill>
                <a:latin typeface="Arial"/>
                <a:ea typeface="Arial"/>
                <a:cs typeface="Arial"/>
              </a:defRPr>
            </a:pPr>
            <a:r>
              <a:rPr sz="2400" b="1">
                <a:solidFill>
                  <a:srgbClr val="177F88"/>
                </a:solidFill>
                <a:latin typeface="Arial"/>
                <a:ea typeface="Arial"/>
                <a:cs typeface="Arial"/>
              </a:rPr>
              <a:t>11 replay checks</a:t>
            </a:r>
          </a:p>
        </p:txBody>
      </p:sp>
      <p:sp>
        <p:nvSpPr>
          <p:cNvPr id="10" name="text-9">
            <a:extLst xmlns:a="http://schemas.openxmlformats.org/drawingml/2006/main">
              <a:ext uri="{FF2B5EF4-FFF2-40B4-BE49-F238E27FC236}">
                <a16:creationId xmlns:a16="http://schemas.microsoft.com/office/drawing/2014/main" id="{BD3F2876-8793-48BC-8461-99161B52EAE9}"/>
              </a:ext>
            </a:extLst>
          </p:cNvPr>
          <p:cNvSpPr>
            <a:spLocks xmlns:a="http://schemas.openxmlformats.org/drawingml/2006/main" noGrp="1"/>
          </p:cNvSpPr>
          <p:nvPr/>
        </p:nvSpPr>
        <p:spPr>
          <a:xfrm xmlns:a="http://schemas.openxmlformats.org/drawingml/2006/main">
            <a:off x="4572000" y="3829050"/>
            <a:ext cx="704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Hall passes and session records passed</a:t>
            </a:r>
          </a:p>
        </p:txBody>
      </p:sp>
      <p:sp>
        <p:nvSpPr>
          <p:cNvPr id="11" name="text-10">
            <a:extLst xmlns:a="http://schemas.openxmlformats.org/drawingml/2006/main">
              <a:ext uri="{FF2B5EF4-FFF2-40B4-BE49-F238E27FC236}">
                <a16:creationId xmlns:a16="http://schemas.microsoft.com/office/drawing/2014/main" id="{FFF07E5D-F26A-48BE-B216-155AC18A80AC}"/>
              </a:ext>
            </a:extLst>
          </p:cNvPr>
          <p:cNvSpPr>
            <a:spLocks xmlns:a="http://schemas.openxmlformats.org/drawingml/2006/main" noGrp="1"/>
          </p:cNvSpPr>
          <p:nvPr/>
        </p:nvSpPr>
        <p:spPr>
          <a:xfrm xmlns:a="http://schemas.openxmlformats.org/drawingml/2006/main">
            <a:off x="533400" y="4676775"/>
            <a:ext cx="3714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77F88"/>
                </a:solidFill>
                <a:latin typeface="Arial"/>
                <a:ea typeface="Arial"/>
                <a:cs typeface="Arial"/>
              </a:defRPr>
            </a:pPr>
            <a:r>
              <a:rPr sz="2400" b="1">
                <a:solidFill>
                  <a:srgbClr val="177F88"/>
                </a:solidFill>
                <a:latin typeface="Arial"/>
                <a:ea typeface="Arial"/>
                <a:cs typeface="Arial"/>
              </a:rPr>
              <a:t>24-second patrols</a:t>
            </a:r>
          </a:p>
        </p:txBody>
      </p:sp>
      <p:sp>
        <p:nvSpPr>
          <p:cNvPr id="12" name="text-11">
            <a:extLst xmlns:a="http://schemas.openxmlformats.org/drawingml/2006/main">
              <a:ext uri="{FF2B5EF4-FFF2-40B4-BE49-F238E27FC236}">
                <a16:creationId xmlns:a16="http://schemas.microsoft.com/office/drawing/2014/main" id="{06B2A965-5456-4582-989A-555A805FB3CA}"/>
              </a:ext>
            </a:extLst>
          </p:cNvPr>
          <p:cNvSpPr>
            <a:spLocks xmlns:a="http://schemas.openxmlformats.org/drawingml/2006/main" noGrp="1"/>
          </p:cNvSpPr>
          <p:nvPr/>
        </p:nvSpPr>
        <p:spPr>
          <a:xfrm xmlns:a="http://schemas.openxmlformats.org/drawingml/2006/main">
            <a:off x="4572000" y="4695825"/>
            <a:ext cx="704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Professor moved 225 studs without recovery</a:t>
            </a:r>
          </a:p>
        </p:txBody>
      </p:sp>
      <p:sp>
        <p:nvSpPr>
          <p:cNvPr id="13" name="text-12">
            <a:extLst xmlns:a="http://schemas.openxmlformats.org/drawingml/2006/main">
              <a:ext uri="{FF2B5EF4-FFF2-40B4-BE49-F238E27FC236}">
                <a16:creationId xmlns:a16="http://schemas.microsoft.com/office/drawing/2014/main" id="{451E3963-F29B-4614-A579-CED1BAF901B9}"/>
              </a:ext>
            </a:extLst>
          </p:cNvPr>
          <p:cNvSpPr>
            <a:spLocks xmlns:a="http://schemas.openxmlformats.org/drawingml/2006/main" noGrp="1"/>
          </p:cNvSpPr>
          <p:nvPr/>
        </p:nvSpPr>
        <p:spPr>
          <a:xfrm xmlns:a="http://schemas.openxmlformats.org/drawingml/2006/main">
            <a:off x="533400" y="5810250"/>
            <a:ext cx="1107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77F88"/>
                </a:solidFill>
                <a:latin typeface="Arial"/>
                <a:ea typeface="Arial"/>
                <a:cs typeface="Arial"/>
              </a:defRPr>
            </a:pPr>
            <a:r>
              <a:rPr sz="1650" b="0">
                <a:solidFill>
                  <a:srgbClr val="177F88"/>
                </a:solidFill>
                <a:latin typeface="Arial"/>
                <a:ea typeface="Arial"/>
                <a:cs typeface="Arial"/>
              </a:rPr>
              <a:t>Controlled Studio checks. Physical phone and controller testing remain next steps.</a:t>
            </a:r>
          </a:p>
        </p:txBody>
      </p:sp>
    </p:spTree>
    <p:extLst>
      <p:ext uri="{BB962C8B-B14F-4D97-AF65-F5344CB8AC3E}">
        <p14:creationId xmlns:p14="http://schemas.microsoft.com/office/powerpoint/2010/main" val="1131776299"/>
      </p:ext>
    </p:extLst>
  </p:cSld>
</p:sld>
</file>

<file path=ppt/slides/slide12.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36B5D10-45C4-4E43-9047-C0953ACF8AEE}"/>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5254961D-BF5A-4378-B4E7-C54D3E908E1F}"/>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Bug fix: the professor faced a wall</a:t>
            </a:r>
          </a:p>
        </p:txBody>
      </p:sp>
      <p:sp>
        <p:nvSpPr>
          <p:cNvPr id="3" name="text-2">
            <a:extLst xmlns:a="http://schemas.openxmlformats.org/drawingml/2006/main">
              <a:ext uri="{FF2B5EF4-FFF2-40B4-BE49-F238E27FC236}">
                <a16:creationId xmlns:a16="http://schemas.microsoft.com/office/drawing/2014/main" id="{56C12AC3-DC1F-47EA-8269-B13BA21720F0}"/>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Tobenna Uyanwune</a:t>
            </a:r>
          </a:p>
        </p:txBody>
      </p:sp>
      <p:sp>
        <p:nvSpPr>
          <p:cNvPr id="4" name="text-3">
            <a:extLst xmlns:a="http://schemas.openxmlformats.org/drawingml/2006/main">
              <a:ext uri="{FF2B5EF4-FFF2-40B4-BE49-F238E27FC236}">
                <a16:creationId xmlns:a16="http://schemas.microsoft.com/office/drawing/2014/main" id="{78669201-557F-4D23-9119-9E66DD1B1F27}"/>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12</a:t>
            </a:r>
          </a:p>
        </p:txBody>
      </p:sp>
      <p:sp>
        <p:nvSpPr>
          <p:cNvPr id="5" name="text-4">
            <a:extLst xmlns:a="http://schemas.openxmlformats.org/drawingml/2006/main">
              <a:ext uri="{FF2B5EF4-FFF2-40B4-BE49-F238E27FC236}">
                <a16:creationId xmlns:a16="http://schemas.microsoft.com/office/drawing/2014/main" id="{1A5B5CBB-4715-4AC2-82B6-B679AC0D2259}"/>
              </a:ext>
            </a:extLst>
          </p:cNvPr>
          <p:cNvSpPr>
            <a:spLocks xmlns:a="http://schemas.openxmlformats.org/drawingml/2006/main" noGrp="1"/>
          </p:cNvSpPr>
          <p:nvPr/>
        </p:nvSpPr>
        <p:spPr>
          <a:xfrm xmlns:a="http://schemas.openxmlformats.org/drawingml/2006/main">
            <a:off x="533400" y="18859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D04A"/>
                </a:solidFill>
                <a:latin typeface="Arial"/>
                <a:ea typeface="Arial"/>
                <a:cs typeface="Arial"/>
              </a:defRPr>
            </a:pPr>
            <a:r>
              <a:rPr sz="2250" b="1">
                <a:solidFill>
                  <a:srgbClr val="FFD04A"/>
                </a:solidFill>
                <a:latin typeface="Arial"/>
                <a:ea typeface="Arial"/>
                <a:cs typeface="Arial"/>
              </a:rPr>
              <a:t>Cause: navigation could target cabinet tops.</a:t>
            </a:r>
          </a:p>
        </p:txBody>
      </p:sp>
      <p:sp>
        <p:nvSpPr>
          <p:cNvPr id="6" name="text-5">
            <a:extLst xmlns:a="http://schemas.openxmlformats.org/drawingml/2006/main">
              <a:ext uri="{FF2B5EF4-FFF2-40B4-BE49-F238E27FC236}">
                <a16:creationId xmlns:a16="http://schemas.microsoft.com/office/drawing/2014/main" id="{455ABFD5-CC4F-4FFF-BB0E-0673C44B87F2}"/>
              </a:ext>
            </a:extLst>
          </p:cNvPr>
          <p:cNvSpPr>
            <a:spLocks xmlns:a="http://schemas.openxmlformats.org/drawingml/2006/main" noGrp="1"/>
          </p:cNvSpPr>
          <p:nvPr/>
        </p:nvSpPr>
        <p:spPr>
          <a:xfrm xmlns:a="http://schemas.openxmlformats.org/drawingml/2006/main">
            <a:off x="533400" y="266700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local function floorPoint(position)</a:t>
            </a:r>
          </a:p>
        </p:txBody>
      </p:sp>
      <p:sp>
        <p:nvSpPr>
          <p:cNvPr id="7" name="text-6">
            <a:extLst xmlns:a="http://schemas.openxmlformats.org/drawingml/2006/main">
              <a:ext uri="{FF2B5EF4-FFF2-40B4-BE49-F238E27FC236}">
                <a16:creationId xmlns:a16="http://schemas.microsoft.com/office/drawing/2014/main" id="{B439062D-7ED7-454D-BE2D-76A5F84BF678}"/>
              </a:ext>
            </a:extLst>
          </p:cNvPr>
          <p:cNvSpPr>
            <a:spLocks xmlns:a="http://schemas.openxmlformats.org/drawingml/2006/main" noGrp="1"/>
          </p:cNvSpPr>
          <p:nvPr/>
        </p:nvSpPr>
        <p:spPr>
          <a:xfrm xmlns:a="http://schemas.openxmlformats.org/drawingml/2006/main">
            <a:off x="533400" y="302895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    local p = course:ToLocal(position)</a:t>
            </a:r>
          </a:p>
        </p:txBody>
      </p:sp>
      <p:sp>
        <p:nvSpPr>
          <p:cNvPr id="8" name="text-7">
            <a:extLst xmlns:a="http://schemas.openxmlformats.org/drawingml/2006/main">
              <a:ext uri="{FF2B5EF4-FFF2-40B4-BE49-F238E27FC236}">
                <a16:creationId xmlns:a16="http://schemas.microsoft.com/office/drawing/2014/main" id="{D9A94E5E-6391-48BB-963B-85595A751B89}"/>
              </a:ext>
            </a:extLst>
          </p:cNvPr>
          <p:cNvSpPr>
            <a:spLocks xmlns:a="http://schemas.openxmlformats.org/drawingml/2006/main" noGrp="1"/>
          </p:cNvSpPr>
          <p:nvPr/>
        </p:nvSpPr>
        <p:spPr>
          <a:xfrm xmlns:a="http://schemas.openxmlformats.org/drawingml/2006/main">
            <a:off x="533400" y="339090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    return course:ToWorld(</a:t>
            </a:r>
          </a:p>
        </p:txBody>
      </p:sp>
      <p:sp>
        <p:nvSpPr>
          <p:cNvPr id="9" name="text-8">
            <a:extLst xmlns:a="http://schemas.openxmlformats.org/drawingml/2006/main">
              <a:ext uri="{FF2B5EF4-FFF2-40B4-BE49-F238E27FC236}">
                <a16:creationId xmlns:a16="http://schemas.microsoft.com/office/drawing/2014/main" id="{FA8887FC-BF36-48E9-A389-5C0D045AB025}"/>
              </a:ext>
            </a:extLst>
          </p:cNvPr>
          <p:cNvSpPr>
            <a:spLocks xmlns:a="http://schemas.openxmlformats.org/drawingml/2006/main" noGrp="1"/>
          </p:cNvSpPr>
          <p:nvPr/>
        </p:nvSpPr>
        <p:spPr>
          <a:xfrm xmlns:a="http://schemas.openxmlformats.org/drawingml/2006/main">
            <a:off x="533400" y="375285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        Vector3.new(p.X, 41.15, p.Z)</a:t>
            </a:r>
          </a:p>
        </p:txBody>
      </p:sp>
      <p:sp>
        <p:nvSpPr>
          <p:cNvPr id="10" name="text-9">
            <a:extLst xmlns:a="http://schemas.openxmlformats.org/drawingml/2006/main">
              <a:ext uri="{FF2B5EF4-FFF2-40B4-BE49-F238E27FC236}">
                <a16:creationId xmlns:a16="http://schemas.microsoft.com/office/drawing/2014/main" id="{157E65C0-0459-4D23-83CD-723710EE8469}"/>
              </a:ext>
            </a:extLst>
          </p:cNvPr>
          <p:cNvSpPr>
            <a:spLocks xmlns:a="http://schemas.openxmlformats.org/drawingml/2006/main" noGrp="1"/>
          </p:cNvSpPr>
          <p:nvPr/>
        </p:nvSpPr>
        <p:spPr>
          <a:xfrm xmlns:a="http://schemas.openxmlformats.org/drawingml/2006/main">
            <a:off x="533400" y="411480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    )</a:t>
            </a:r>
          </a:p>
        </p:txBody>
      </p:sp>
      <p:sp>
        <p:nvSpPr>
          <p:cNvPr id="11" name="text-10">
            <a:extLst xmlns:a="http://schemas.openxmlformats.org/drawingml/2006/main">
              <a:ext uri="{FF2B5EF4-FFF2-40B4-BE49-F238E27FC236}">
                <a16:creationId xmlns:a16="http://schemas.microsoft.com/office/drawing/2014/main" id="{C5A9CC51-477D-41B4-80FD-CD11CD530D27}"/>
              </a:ext>
            </a:extLst>
          </p:cNvPr>
          <p:cNvSpPr>
            <a:spLocks xmlns:a="http://schemas.openxmlformats.org/drawingml/2006/main" noGrp="1"/>
          </p:cNvSpPr>
          <p:nvPr/>
        </p:nvSpPr>
        <p:spPr>
          <a:xfrm xmlns:a="http://schemas.openxmlformats.org/drawingml/2006/main">
            <a:off x="533400" y="4476750"/>
            <a:ext cx="1100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Consolas"/>
                <a:ea typeface="Consolas"/>
                <a:cs typeface="Consolas"/>
              </a:defRPr>
            </a:pPr>
            <a:r>
              <a:rPr sz="2175" b="0">
                <a:solidFill>
                  <a:srgbClr val="F6F2E7"/>
                </a:solidFill>
                <a:latin typeface="Consolas"/>
                <a:ea typeface="Consolas"/>
                <a:cs typeface="Consolas"/>
              </a:rPr>
              <a:t>end</a:t>
            </a:r>
          </a:p>
        </p:txBody>
      </p:sp>
      <p:sp>
        <p:nvSpPr>
          <p:cNvPr id="12" name="text-11">
            <a:extLst xmlns:a="http://schemas.openxmlformats.org/drawingml/2006/main">
              <a:ext uri="{FF2B5EF4-FFF2-40B4-BE49-F238E27FC236}">
                <a16:creationId xmlns:a16="http://schemas.microsoft.com/office/drawing/2014/main" id="{070DE405-B685-4AF3-B891-D998AE7EBE6C}"/>
              </a:ext>
            </a:extLst>
          </p:cNvPr>
          <p:cNvSpPr>
            <a:spLocks xmlns:a="http://schemas.openxmlformats.org/drawingml/2006/main" noGrp="1"/>
          </p:cNvSpPr>
          <p:nvPr/>
        </p:nvSpPr>
        <p:spPr>
          <a:xfrm xmlns:a="http://schemas.openxmlformats.org/drawingml/2006/main">
            <a:off x="533400" y="53054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Arial"/>
                <a:ea typeface="Arial"/>
                <a:cs typeface="Arial"/>
              </a:defRPr>
            </a:pPr>
            <a:r>
              <a:rPr sz="2175" b="0">
                <a:solidFill>
                  <a:srgbClr val="F6F2E7"/>
                </a:solidFill>
                <a:latin typeface="Arial"/>
                <a:ea typeface="Arial"/>
                <a:cs typeface="Arial"/>
              </a:rPr>
              <a:t>Fix: use foot-level endpoints and preserve valid routes.</a:t>
            </a:r>
          </a:p>
        </p:txBody>
      </p:sp>
    </p:spTree>
    <p:extLst>
      <p:ext uri="{BB962C8B-B14F-4D97-AF65-F5344CB8AC3E}">
        <p14:creationId xmlns:p14="http://schemas.microsoft.com/office/powerpoint/2010/main" val="426132190"/>
      </p:ext>
    </p:extLst>
  </p:cSld>
</p:sld>
</file>

<file path=ppt/slides/slide13.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D9D3CE8A-AE6C-434F-AC17-7D8632FF7290}"/>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3651B19B-DDB1-47FA-B25C-D564F5CDF352}"/>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The final chase now rewards timing</a:t>
            </a:r>
          </a:p>
        </p:txBody>
      </p:sp>
      <p:sp>
        <p:nvSpPr>
          <p:cNvPr id="3" name="text-2">
            <a:extLst xmlns:a="http://schemas.openxmlformats.org/drawingml/2006/main">
              <a:ext uri="{FF2B5EF4-FFF2-40B4-BE49-F238E27FC236}">
                <a16:creationId xmlns:a16="http://schemas.microsoft.com/office/drawing/2014/main" id="{67F9F571-5304-4CDD-BB67-832862E5CC09}"/>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Tobenna Uyanwune</a:t>
            </a:r>
          </a:p>
        </p:txBody>
      </p:sp>
      <p:sp>
        <p:nvSpPr>
          <p:cNvPr id="4" name="text-3">
            <a:extLst xmlns:a="http://schemas.openxmlformats.org/drawingml/2006/main">
              <a:ext uri="{FF2B5EF4-FFF2-40B4-BE49-F238E27FC236}">
                <a16:creationId xmlns:a16="http://schemas.microsoft.com/office/drawing/2014/main" id="{C98C2BF4-CB7B-423E-B19B-0044F1A948BD}"/>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5a581eb6d4b45cc"/>
          <a:srcRect xmlns:a="http://schemas.openxmlformats.org/drawingml/2006/main" l="1538" t="0" r="1538" b="0"/>
          <a:stretch xmlns:a="http://schemas.openxmlformats.org/drawingml/2006/main">
            <a:fillRect l="0" t="0" r="0" b="0"/>
          </a:stretch>
        </p:blipFill>
        <p:spPr>
          <a:xfrm xmlns:a="http://schemas.openxmlformats.org/drawingml/2006/main">
            <a:off x="5467350" y="1819275"/>
            <a:ext cx="6191250" cy="44386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B505ED58-6EA2-4C42-A0F4-EB0519745E28}"/>
              </a:ext>
            </a:extLst>
          </p:cNvPr>
          <p:cNvSpPr>
            <a:spLocks xmlns:a="http://schemas.openxmlformats.org/drawingml/2006/main" noGrp="1"/>
          </p:cNvSpPr>
          <p:nvPr/>
        </p:nvSpPr>
        <p:spPr>
          <a:xfrm xmlns:a="http://schemas.openxmlformats.org/drawingml/2006/main">
            <a:off x="533400" y="1971675"/>
            <a:ext cx="4619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7F88"/>
                </a:solidFill>
                <a:latin typeface="Arial"/>
                <a:ea typeface="Arial"/>
                <a:cs typeface="Arial"/>
              </a:defRPr>
            </a:pPr>
            <a:r>
              <a:rPr sz="2550" b="1">
                <a:solidFill>
                  <a:srgbClr val="177F88"/>
                </a:solidFill>
                <a:latin typeface="Arial"/>
                <a:ea typeface="Arial"/>
                <a:cs typeface="Arial"/>
              </a:rPr>
              <a:t>2 carts + 3 hurdles</a:t>
            </a:r>
          </a:p>
        </p:txBody>
      </p:sp>
      <p:sp>
        <p:nvSpPr>
          <p:cNvPr id="7" name="text-5">
            <a:extLst xmlns:a="http://schemas.openxmlformats.org/drawingml/2006/main">
              <a:ext uri="{FF2B5EF4-FFF2-40B4-BE49-F238E27FC236}">
                <a16:creationId xmlns:a16="http://schemas.microsoft.com/office/drawing/2014/main" id="{B3D6F46F-C2EC-4896-8431-2EB452C415C1}"/>
              </a:ext>
            </a:extLst>
          </p:cNvPr>
          <p:cNvSpPr>
            <a:spLocks xmlns:a="http://schemas.openxmlformats.org/drawingml/2006/main" noGrp="1"/>
          </p:cNvSpPr>
          <p:nvPr/>
        </p:nvSpPr>
        <p:spPr>
          <a:xfrm xmlns:a="http://schemas.openxmlformats.org/drawingml/2006/main">
            <a:off x="533400" y="2619375"/>
            <a:ext cx="4429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A 1.8-second head start</a:t>
            </a:r>
          </a:p>
          <a:p xmlns:a="http://schemas.openxmlformats.org/drawingml/2006/main">
            <a:pPr>
              <a:defRPr sz="2100" b="0">
                <a:solidFill>
                  <a:srgbClr val="172E42"/>
                </a:solidFill>
                <a:latin typeface="Arial"/>
                <a:ea typeface="Arial"/>
                <a:cs typeface="Arial"/>
              </a:defRPr>
            </a:pPr>
            <a:r>
              <a:rPr sz="2100" b="0">
                <a:solidFill>
                  <a:srgbClr val="172E42"/>
                </a:solidFill>
                <a:latin typeface="Arial"/>
                <a:ea typeface="Arial"/>
                <a:cs typeface="Arial"/>
              </a:rPr>
              <a:t>before the professor accelerates.</a:t>
            </a:r>
          </a:p>
        </p:txBody>
      </p:sp>
      <p:sp>
        <p:nvSpPr>
          <p:cNvPr id="8" name="text-6">
            <a:extLst xmlns:a="http://schemas.openxmlformats.org/drawingml/2006/main">
              <a:ext uri="{FF2B5EF4-FFF2-40B4-BE49-F238E27FC236}">
                <a16:creationId xmlns:a16="http://schemas.microsoft.com/office/drawing/2014/main" id="{975D96C1-64F6-4599-B4B0-553F441A1192}"/>
              </a:ext>
            </a:extLst>
          </p:cNvPr>
          <p:cNvSpPr>
            <a:spLocks xmlns:a="http://schemas.openxmlformats.org/drawingml/2006/main" noGrp="1"/>
          </p:cNvSpPr>
          <p:nvPr/>
        </p:nvSpPr>
        <p:spPr>
          <a:xfrm xmlns:a="http://schemas.openxmlformats.org/drawingml/2006/main">
            <a:off x="533400" y="384810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b="1">
                <a:solidFill>
                  <a:srgbClr val="172E42"/>
                </a:solidFill>
                <a:latin typeface="Arial"/>
                <a:ea typeface="Arial"/>
                <a:cs typeface="Arial"/>
              </a:defRPr>
            </a:pPr>
            <a:r>
              <a:rPr sz="3975" b="1">
                <a:solidFill>
                  <a:srgbClr val="172E42"/>
                </a:solidFill>
                <a:latin typeface="Arial"/>
                <a:ea typeface="Arial"/>
                <a:cs typeface="Arial"/>
              </a:rPr>
              <a:t>8.1 s</a:t>
            </a:r>
          </a:p>
        </p:txBody>
      </p:sp>
      <p:sp>
        <p:nvSpPr>
          <p:cNvPr id="9" name="text-7">
            <a:extLst xmlns:a="http://schemas.openxmlformats.org/drawingml/2006/main">
              <a:ext uri="{FF2B5EF4-FFF2-40B4-BE49-F238E27FC236}">
                <a16:creationId xmlns:a16="http://schemas.microsoft.com/office/drawing/2014/main" id="{35CC873E-51BA-499F-B79C-8558EB3CC199}"/>
              </a:ext>
            </a:extLst>
          </p:cNvPr>
          <p:cNvSpPr>
            <a:spLocks xmlns:a="http://schemas.openxmlformats.org/drawingml/2006/main" noGrp="1"/>
          </p:cNvSpPr>
          <p:nvPr/>
        </p:nvSpPr>
        <p:spPr>
          <a:xfrm xmlns:a="http://schemas.openxmlformats.org/drawingml/2006/main">
            <a:off x="533400" y="4476750"/>
            <a:ext cx="438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7F88"/>
                </a:solidFill>
                <a:latin typeface="Arial"/>
                <a:ea typeface="Arial"/>
                <a:cs typeface="Arial"/>
              </a:defRPr>
            </a:pPr>
            <a:r>
              <a:rPr sz="2025" b="0">
                <a:solidFill>
                  <a:srgbClr val="177F88"/>
                </a:solidFill>
                <a:latin typeface="Arial"/>
                <a:ea typeface="Arial"/>
                <a:cs typeface="Arial"/>
              </a:rPr>
              <a:t>Timed sprint: escaped</a:t>
            </a:r>
          </a:p>
        </p:txBody>
      </p:sp>
      <p:sp>
        <p:nvSpPr>
          <p:cNvPr id="10" name="text-8">
            <a:extLst xmlns:a="http://schemas.openxmlformats.org/drawingml/2006/main">
              <a:ext uri="{FF2B5EF4-FFF2-40B4-BE49-F238E27FC236}">
                <a16:creationId xmlns:a16="http://schemas.microsoft.com/office/drawing/2014/main" id="{E22B4CDE-8CA7-4BEC-BD77-1CD6E4CCD1CB}"/>
              </a:ext>
            </a:extLst>
          </p:cNvPr>
          <p:cNvSpPr>
            <a:spLocks xmlns:a="http://schemas.openxmlformats.org/drawingml/2006/main" noGrp="1"/>
          </p:cNvSpPr>
          <p:nvPr/>
        </p:nvSpPr>
        <p:spPr>
          <a:xfrm xmlns:a="http://schemas.openxmlformats.org/drawingml/2006/main">
            <a:off x="533400" y="5114925"/>
            <a:ext cx="4333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72E42"/>
                </a:solidFill>
                <a:latin typeface="Arial"/>
                <a:ea typeface="Arial"/>
                <a:cs typeface="Arial"/>
              </a:defRPr>
            </a:pPr>
            <a:r>
              <a:rPr sz="3675" b="1">
                <a:solidFill>
                  <a:srgbClr val="172E42"/>
                </a:solidFill>
                <a:latin typeface="Arial"/>
                <a:ea typeface="Arial"/>
                <a:cs typeface="Arial"/>
              </a:rPr>
              <a:t>7.3 s</a:t>
            </a:r>
          </a:p>
        </p:txBody>
      </p:sp>
      <p:sp>
        <p:nvSpPr>
          <p:cNvPr id="11" name="text-9">
            <a:extLst xmlns:a="http://schemas.openxmlformats.org/drawingml/2006/main">
              <a:ext uri="{FF2B5EF4-FFF2-40B4-BE49-F238E27FC236}">
                <a16:creationId xmlns:a16="http://schemas.microsoft.com/office/drawing/2014/main" id="{47F471B3-944A-40C2-8215-88A84D919771}"/>
              </a:ext>
            </a:extLst>
          </p:cNvPr>
          <p:cNvSpPr>
            <a:spLocks xmlns:a="http://schemas.openxmlformats.org/drawingml/2006/main" noGrp="1"/>
          </p:cNvSpPr>
          <p:nvPr/>
        </p:nvSpPr>
        <p:spPr>
          <a:xfrm xmlns:a="http://schemas.openxmlformats.org/drawingml/2006/main">
            <a:off x="533400" y="5734050"/>
            <a:ext cx="433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7F88"/>
                </a:solidFill>
                <a:latin typeface="Arial"/>
                <a:ea typeface="Arial"/>
                <a:cs typeface="Arial"/>
              </a:defRPr>
            </a:pPr>
            <a:r>
              <a:rPr sz="2025" b="0">
                <a:solidFill>
                  <a:srgbClr val="177F88"/>
                </a:solidFill>
                <a:latin typeface="Arial"/>
                <a:ea typeface="Arial"/>
                <a:cs typeface="Arial"/>
              </a:rPr>
              <a:t>Walking: caught</a:t>
            </a:r>
          </a:p>
        </p:txBody>
      </p:sp>
    </p:spTree>
    <p:extLst>
      <p:ext uri="{BB962C8B-B14F-4D97-AF65-F5344CB8AC3E}">
        <p14:creationId xmlns:p14="http://schemas.microsoft.com/office/powerpoint/2010/main" val="1710844031"/>
      </p:ext>
    </p:extLst>
  </p:cSld>
</p:sld>
</file>

<file path=ppt/slides/slide14.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807E2C6-E70F-4879-B4DE-54E1260D3F18}"/>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ESCAPE THE PROFESSOR!</a:t>
            </a:r>
          </a:p>
        </p:txBody>
      </p:sp>
      <p:sp>
        <p:nvSpPr>
          <p:cNvPr id="2" name="text-1">
            <a:extLst xmlns:a="http://schemas.openxmlformats.org/drawingml/2006/main">
              <a:ext uri="{FF2B5EF4-FFF2-40B4-BE49-F238E27FC236}">
                <a16:creationId xmlns:a16="http://schemas.microsoft.com/office/drawing/2014/main" id="{6CC53E1D-D3AC-41EF-A0BE-07CBC12EFF02}"/>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Demo and what we learned</a:t>
            </a:r>
          </a:p>
        </p:txBody>
      </p:sp>
      <p:sp>
        <p:nvSpPr>
          <p:cNvPr id="3" name="text-2">
            <a:extLst xmlns:a="http://schemas.openxmlformats.org/drawingml/2006/main">
              <a:ext uri="{FF2B5EF4-FFF2-40B4-BE49-F238E27FC236}">
                <a16:creationId xmlns:a16="http://schemas.microsoft.com/office/drawing/2014/main" id="{CF97882E-D699-4853-B462-D0B5495247C2}"/>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Tobenna Uyanwune</a:t>
            </a:r>
          </a:p>
        </p:txBody>
      </p:sp>
      <p:sp>
        <p:nvSpPr>
          <p:cNvPr id="4" name="text-3">
            <a:extLst xmlns:a="http://schemas.openxmlformats.org/drawingml/2006/main">
              <a:ext uri="{FF2B5EF4-FFF2-40B4-BE49-F238E27FC236}">
                <a16:creationId xmlns:a16="http://schemas.microsoft.com/office/drawing/2014/main" id="{38A51534-ECFC-4100-AC07-2E965B407416}"/>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14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f598bdac5640d4"/>
          <a:stretch xmlns:a="http://schemas.openxmlformats.org/drawingml/2006/main"/>
        </p:blipFill>
        <p:spPr>
          <a:xfrm xmlns:a="http://schemas.openxmlformats.org/drawingml/2006/main">
            <a:off x="6515100" y="2003908"/>
            <a:ext cx="5143500" cy="3574084"/>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898BBE67-ADF5-4701-B729-D84F3FFCC9FC}"/>
              </a:ext>
            </a:extLst>
          </p:cNvPr>
          <p:cNvSpPr>
            <a:spLocks xmlns:a="http://schemas.openxmlformats.org/drawingml/2006/main" noGrp="1"/>
          </p:cNvSpPr>
          <p:nvPr/>
        </p:nvSpPr>
        <p:spPr>
          <a:xfrm xmlns:a="http://schemas.openxmlformats.org/drawingml/2006/main">
            <a:off x="533400" y="1990725"/>
            <a:ext cx="5543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30-second demo</a:t>
            </a:r>
          </a:p>
        </p:txBody>
      </p:sp>
      <p:sp>
        <p:nvSpPr>
          <p:cNvPr id="7" name="text-5">
            <a:extLst xmlns:a="http://schemas.openxmlformats.org/drawingml/2006/main">
              <a:ext uri="{FF2B5EF4-FFF2-40B4-BE49-F238E27FC236}">
                <a16:creationId xmlns:a16="http://schemas.microsoft.com/office/drawing/2014/main" id="{2D9A31C3-1BD2-4F41-8823-52223A9C9BEB}"/>
              </a:ext>
            </a:extLst>
          </p:cNvPr>
          <p:cNvSpPr>
            <a:spLocks xmlns:a="http://schemas.openxmlformats.org/drawingml/2006/main" noGrp="1"/>
          </p:cNvSpPr>
          <p:nvPr/>
        </p:nvSpPr>
        <p:spPr>
          <a:xfrm xmlns:a="http://schemas.openxmlformats.org/drawingml/2006/main">
            <a:off x="533400" y="2438400"/>
            <a:ext cx="5543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Start the game, show the objective,</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and collect one homework sheet.</a:t>
            </a:r>
          </a:p>
        </p:txBody>
      </p:sp>
      <p:sp>
        <p:nvSpPr>
          <p:cNvPr id="8" name="text-6">
            <a:extLst xmlns:a="http://schemas.openxmlformats.org/drawingml/2006/main">
              <a:ext uri="{FF2B5EF4-FFF2-40B4-BE49-F238E27FC236}">
                <a16:creationId xmlns:a16="http://schemas.microsoft.com/office/drawing/2014/main" id="{B4F05103-559E-449C-BCE4-56C64797B155}"/>
              </a:ext>
            </a:extLst>
          </p:cNvPr>
          <p:cNvSpPr>
            <a:spLocks xmlns:a="http://schemas.openxmlformats.org/drawingml/2006/main" noGrp="1"/>
          </p:cNvSpPr>
          <p:nvPr/>
        </p:nvSpPr>
        <p:spPr>
          <a:xfrm xmlns:a="http://schemas.openxmlformats.org/drawingml/2006/main">
            <a:off x="533400" y="3895725"/>
            <a:ext cx="5543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Next improvements</a:t>
            </a:r>
          </a:p>
        </p:txBody>
      </p:sp>
      <p:sp>
        <p:nvSpPr>
          <p:cNvPr id="9" name="text-7">
            <a:extLst xmlns:a="http://schemas.openxmlformats.org/drawingml/2006/main">
              <a:ext uri="{FF2B5EF4-FFF2-40B4-BE49-F238E27FC236}">
                <a16:creationId xmlns:a16="http://schemas.microsoft.com/office/drawing/2014/main" id="{30E61694-0C9F-4D5A-8D9E-FDAC7882D64B}"/>
              </a:ext>
            </a:extLst>
          </p:cNvPr>
          <p:cNvSpPr>
            <a:spLocks xmlns:a="http://schemas.openxmlformats.org/drawingml/2006/main" noGrp="1"/>
          </p:cNvSpPr>
          <p:nvPr/>
        </p:nvSpPr>
        <p:spPr>
          <a:xfrm xmlns:a="http://schemas.openxmlformats.org/drawingml/2006/main">
            <a:off x="533400" y="4343400"/>
            <a:ext cx="5543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Test with new players and on</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physical phones and controllers.</a:t>
            </a:r>
          </a:p>
        </p:txBody>
      </p:sp>
      <p:sp>
        <p:nvSpPr>
          <p:cNvPr id="10" name="text-8">
            <a:extLst xmlns:a="http://schemas.openxmlformats.org/drawingml/2006/main">
              <a:ext uri="{FF2B5EF4-FFF2-40B4-BE49-F238E27FC236}">
                <a16:creationId xmlns:a16="http://schemas.microsoft.com/office/drawing/2014/main" id="{DA397103-101B-4566-9BA8-DB8A4A4A38FF}"/>
              </a:ext>
            </a:extLst>
          </p:cNvPr>
          <p:cNvSpPr>
            <a:spLocks xmlns:a="http://schemas.openxmlformats.org/drawingml/2006/main" noGrp="1"/>
          </p:cNvSpPr>
          <p:nvPr/>
        </p:nvSpPr>
        <p:spPr>
          <a:xfrm xmlns:a="http://schemas.openxmlformats.org/drawingml/2006/main">
            <a:off x="6515100" y="591502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7F88"/>
                </a:solidFill>
                <a:latin typeface="Arial"/>
                <a:ea typeface="Arial"/>
                <a:cs typeface="Arial"/>
              </a:defRPr>
            </a:pPr>
            <a:r>
              <a:rPr>
                <a:hlinkClick xmlns:r="http://schemas.openxmlformats.org/officeDocument/2006/relationships" r:id="Rc14ee8a320424f64"/>
              </a:rPr>
              <a:t>Open the published game</a:t>
            </a:r>
          </a:p>
        </p:txBody>
      </p:sp>
    </p:spTree>
    <p:extLst>
      <p:ext uri="{BB962C8B-B14F-4D97-AF65-F5344CB8AC3E}">
        <p14:creationId xmlns:p14="http://schemas.microsoft.com/office/powerpoint/2010/main" val="291036635"/>
      </p:ext>
    </p:extLst>
  </p:cSld>
</p:sld>
</file>

<file path=ppt/slides/slide15.xml><?xml version="1.0" encoding="utf-8"?>
<p:sld xmlns:p="http://schemas.openxmlformats.org/presentationml/2006/main">
  <p:cSld>
    <p:bg>
      <p:bgPr>
        <a:solidFill xmlns:a="http://schemas.openxmlformats.org/drawingml/2006/main">
          <a:srgbClr val="F6F2E7"/>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E1DDE383-9574-4AC7-93DE-BE6FB7249F3B}"/>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7F88"/>
                </a:solidFill>
                <a:latin typeface="Arial"/>
                <a:ea typeface="Arial"/>
                <a:cs typeface="Arial"/>
              </a:defRPr>
            </a:pPr>
            <a:r>
              <a:rPr sz="1275" b="1">
                <a:solidFill>
                  <a:srgbClr val="177F88"/>
                </a:solidFill>
                <a:latin typeface="Arial"/>
                <a:ea typeface="Arial"/>
                <a:cs typeface="Arial"/>
              </a:rPr>
              <a:t>APPENDIX / REFERENCE</a:t>
            </a:r>
          </a:p>
        </p:txBody>
      </p:sp>
      <p:sp>
        <p:nvSpPr>
          <p:cNvPr id="2" name="text-1">
            <a:extLst xmlns:a="http://schemas.openxmlformats.org/drawingml/2006/main">
              <a:ext uri="{FF2B5EF4-FFF2-40B4-BE49-F238E27FC236}">
                <a16:creationId xmlns:a16="http://schemas.microsoft.com/office/drawing/2014/main" id="{4ED30EE2-C2CC-4034-B695-27918F3E6CD9}"/>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72E42"/>
                </a:solidFill>
                <a:latin typeface="Arial"/>
                <a:ea typeface="Arial"/>
                <a:cs typeface="Arial"/>
              </a:defRPr>
            </a:pPr>
            <a:r>
              <a:rPr sz="3600" b="1">
                <a:solidFill>
                  <a:srgbClr val="172E42"/>
                </a:solidFill>
                <a:latin typeface="Arial"/>
                <a:ea typeface="Arial"/>
                <a:cs typeface="Arial"/>
              </a:rPr>
              <a:t>Source files and responsibilities</a:t>
            </a:r>
          </a:p>
        </p:txBody>
      </p:sp>
      <p:sp>
        <p:nvSpPr>
          <p:cNvPr id="3" name="text-2">
            <a:extLst xmlns:a="http://schemas.openxmlformats.org/drawingml/2006/main">
              <a:ext uri="{FF2B5EF4-FFF2-40B4-BE49-F238E27FC236}">
                <a16:creationId xmlns:a16="http://schemas.microsoft.com/office/drawing/2014/main" id="{98B4F34B-B0EB-48B7-A58C-B1484DA1888F}"/>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177F88"/>
                </a:solidFill>
                <a:latin typeface="Arial"/>
                <a:ea typeface="Arial"/>
                <a:cs typeface="Arial"/>
              </a:defRPr>
            </a:pPr>
            <a:r>
              <a:rPr sz="1275" b="0">
                <a:solidFill>
                  <a:srgbClr val="177F88"/>
                </a:solidFill>
                <a:latin typeface="Arial"/>
                <a:ea typeface="Arial"/>
                <a:cs typeface="Arial"/>
              </a:rPr>
              <a:t>All presenters</a:t>
            </a:r>
          </a:p>
        </p:txBody>
      </p:sp>
      <p:sp>
        <p:nvSpPr>
          <p:cNvPr id="4" name="text-3">
            <a:extLst xmlns:a="http://schemas.openxmlformats.org/drawingml/2006/main">
              <a:ext uri="{FF2B5EF4-FFF2-40B4-BE49-F238E27FC236}">
                <a16:creationId xmlns:a16="http://schemas.microsoft.com/office/drawing/2014/main" id="{7B805596-3422-4994-A685-ECD2631141C8}"/>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7F88"/>
                </a:solidFill>
                <a:latin typeface="Arial"/>
                <a:ea typeface="Arial"/>
                <a:cs typeface="Arial"/>
              </a:defRPr>
            </a:pPr>
            <a:r>
              <a:rPr sz="1575" b="1">
                <a:solidFill>
                  <a:srgbClr val="177F88"/>
                </a:solidFill>
                <a:latin typeface="Arial"/>
                <a:ea typeface="Arial"/>
                <a:cs typeface="Arial"/>
              </a:rPr>
              <a:t>15</a:t>
            </a:r>
          </a:p>
        </p:txBody>
      </p:sp>
      <p:sp>
        <p:nvSpPr>
          <p:cNvPr id="5" name="text-4">
            <a:extLst xmlns:a="http://schemas.openxmlformats.org/drawingml/2006/main">
              <a:ext uri="{FF2B5EF4-FFF2-40B4-BE49-F238E27FC236}">
                <a16:creationId xmlns:a16="http://schemas.microsoft.com/office/drawing/2014/main" id="{C0A4779F-326A-434C-8FFA-B1A22EAA2B18}"/>
              </a:ext>
            </a:extLst>
          </p:cNvPr>
          <p:cNvSpPr>
            <a:spLocks xmlns:a="http://schemas.openxmlformats.org/drawingml/2006/main" noGrp="1"/>
          </p:cNvSpPr>
          <p:nvPr/>
        </p:nvSpPr>
        <p:spPr>
          <a:xfrm xmlns:a="http://schemas.openxmlformats.org/drawingml/2006/main">
            <a:off x="533400" y="2047875"/>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Server: 5 files</a:t>
            </a:r>
          </a:p>
        </p:txBody>
      </p:sp>
      <p:sp>
        <p:nvSpPr>
          <p:cNvPr id="6" name="text-5">
            <a:extLst xmlns:a="http://schemas.openxmlformats.org/drawingml/2006/main">
              <a:ext uri="{FF2B5EF4-FFF2-40B4-BE49-F238E27FC236}">
                <a16:creationId xmlns:a16="http://schemas.microsoft.com/office/drawing/2014/main" id="{4CD5B7AD-C940-4FF0-909F-74FB3CE4F517}"/>
              </a:ext>
            </a:extLst>
          </p:cNvPr>
          <p:cNvSpPr>
            <a:spLocks xmlns:a="http://schemas.openxmlformats.org/drawingml/2006/main" noGrp="1"/>
          </p:cNvSpPr>
          <p:nvPr/>
        </p:nvSpPr>
        <p:spPr>
          <a:xfrm xmlns:a="http://schemas.openxmlformats.org/drawingml/2006/main">
            <a:off x="533400" y="2495550"/>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Main, Progression, Interactions,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ProfessorAI, Quiz</a:t>
            </a:r>
          </a:p>
        </p:txBody>
      </p:sp>
      <p:sp>
        <p:nvSpPr>
          <p:cNvPr id="7" name="text-6">
            <a:extLst xmlns:a="http://schemas.openxmlformats.org/drawingml/2006/main">
              <a:ext uri="{FF2B5EF4-FFF2-40B4-BE49-F238E27FC236}">
                <a16:creationId xmlns:a16="http://schemas.microsoft.com/office/drawing/2014/main" id="{EDE62A87-53CB-481E-9A79-80226F474154}"/>
              </a:ext>
            </a:extLst>
          </p:cNvPr>
          <p:cNvSpPr>
            <a:spLocks xmlns:a="http://schemas.openxmlformats.org/drawingml/2006/main" noGrp="1"/>
          </p:cNvSpPr>
          <p:nvPr/>
        </p:nvSpPr>
        <p:spPr>
          <a:xfrm xmlns:a="http://schemas.openxmlformats.org/drawingml/2006/main">
            <a:off x="6534150" y="2047875"/>
            <a:ext cx="512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Client: 4 files</a:t>
            </a:r>
          </a:p>
        </p:txBody>
      </p:sp>
      <p:sp>
        <p:nvSpPr>
          <p:cNvPr id="8" name="text-7">
            <a:extLst xmlns:a="http://schemas.openxmlformats.org/drawingml/2006/main">
              <a:ext uri="{FF2B5EF4-FFF2-40B4-BE49-F238E27FC236}">
                <a16:creationId xmlns:a16="http://schemas.microsoft.com/office/drawing/2014/main" id="{2158C11E-B8E4-4E3C-B288-F7CA088B275A}"/>
              </a:ext>
            </a:extLst>
          </p:cNvPr>
          <p:cNvSpPr>
            <a:spLocks xmlns:a="http://schemas.openxmlformats.org/drawingml/2006/main" noGrp="1"/>
          </p:cNvSpPr>
          <p:nvPr/>
        </p:nvSpPr>
        <p:spPr>
          <a:xfrm xmlns:a="http://schemas.openxmlformats.org/drawingml/2006/main">
            <a:off x="6534150" y="2495550"/>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Main, UI, Effects, Guidance</a:t>
            </a:r>
          </a:p>
        </p:txBody>
      </p:sp>
      <p:sp>
        <p:nvSpPr>
          <p:cNvPr id="9" name="text-8">
            <a:extLst xmlns:a="http://schemas.openxmlformats.org/drawingml/2006/main">
              <a:ext uri="{FF2B5EF4-FFF2-40B4-BE49-F238E27FC236}">
                <a16:creationId xmlns:a16="http://schemas.microsoft.com/office/drawing/2014/main" id="{639BEF59-195C-4A73-8248-13707FF9E482}"/>
              </a:ext>
            </a:extLst>
          </p:cNvPr>
          <p:cNvSpPr>
            <a:spLocks xmlns:a="http://schemas.openxmlformats.org/drawingml/2006/main" noGrp="1"/>
          </p:cNvSpPr>
          <p:nvPr/>
        </p:nvSpPr>
        <p:spPr>
          <a:xfrm xmlns:a="http://schemas.openxmlformats.org/drawingml/2006/main">
            <a:off x="533400" y="3962400"/>
            <a:ext cx="518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Shared: 2 files</a:t>
            </a:r>
          </a:p>
        </p:txBody>
      </p:sp>
      <p:sp>
        <p:nvSpPr>
          <p:cNvPr id="10" name="text-9">
            <a:extLst xmlns:a="http://schemas.openxmlformats.org/drawingml/2006/main">
              <a:ext uri="{FF2B5EF4-FFF2-40B4-BE49-F238E27FC236}">
                <a16:creationId xmlns:a16="http://schemas.microsoft.com/office/drawing/2014/main" id="{F63FF520-3444-4784-AE24-61A51DAE650B}"/>
              </a:ext>
            </a:extLst>
          </p:cNvPr>
          <p:cNvSpPr>
            <a:spLocks xmlns:a="http://schemas.openxmlformats.org/drawingml/2006/main" noGrp="1"/>
          </p:cNvSpPr>
          <p:nvPr/>
        </p:nvSpPr>
        <p:spPr>
          <a:xfrm xmlns:a="http://schemas.openxmlformats.org/drawingml/2006/main">
            <a:off x="533400" y="4410075"/>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Config sets rules.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Course handles map coordinates.</a:t>
            </a:r>
          </a:p>
        </p:txBody>
      </p:sp>
      <p:sp>
        <p:nvSpPr>
          <p:cNvPr id="11" name="text-10">
            <a:extLst xmlns:a="http://schemas.openxmlformats.org/drawingml/2006/main">
              <a:ext uri="{FF2B5EF4-FFF2-40B4-BE49-F238E27FC236}">
                <a16:creationId xmlns:a16="http://schemas.microsoft.com/office/drawing/2014/main" id="{0F114B64-BC2C-40DE-9D8C-845E9757BB8E}"/>
              </a:ext>
            </a:extLst>
          </p:cNvPr>
          <p:cNvSpPr>
            <a:spLocks xmlns:a="http://schemas.openxmlformats.org/drawingml/2006/main" noGrp="1"/>
          </p:cNvSpPr>
          <p:nvPr/>
        </p:nvSpPr>
        <p:spPr>
          <a:xfrm xmlns:a="http://schemas.openxmlformats.org/drawingml/2006/main">
            <a:off x="6534150" y="3962400"/>
            <a:ext cx="512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7F88"/>
                </a:solidFill>
                <a:latin typeface="Arial"/>
                <a:ea typeface="Arial"/>
                <a:cs typeface="Arial"/>
              </a:defRPr>
            </a:pPr>
            <a:r>
              <a:rPr sz="2250" b="1">
                <a:solidFill>
                  <a:srgbClr val="177F88"/>
                </a:solidFill>
                <a:latin typeface="Arial"/>
                <a:ea typeface="Arial"/>
                <a:cs typeface="Arial"/>
              </a:rPr>
              <a:t>Scene and checks</a:t>
            </a:r>
          </a:p>
        </p:txBody>
      </p:sp>
      <p:sp>
        <p:nvSpPr>
          <p:cNvPr id="12" name="text-11">
            <a:extLst xmlns:a="http://schemas.openxmlformats.org/drawingml/2006/main">
              <a:ext uri="{FF2B5EF4-FFF2-40B4-BE49-F238E27FC236}">
                <a16:creationId xmlns:a16="http://schemas.microsoft.com/office/drawing/2014/main" id="{B7874FEA-75EB-4AF2-A2E7-E93E4DF201AC}"/>
              </a:ext>
            </a:extLst>
          </p:cNvPr>
          <p:cNvSpPr>
            <a:spLocks xmlns:a="http://schemas.openxmlformats.org/drawingml/2006/main" noGrp="1"/>
          </p:cNvSpPr>
          <p:nvPr/>
        </p:nvSpPr>
        <p:spPr>
          <a:xfrm xmlns:a="http://schemas.openxmlformats.org/drawingml/2006/main">
            <a:off x="6534150" y="4410075"/>
            <a:ext cx="5124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studio/ contains map recipes.</a:t>
            </a:r>
          </a:p>
          <a:p xmlns:a="http://schemas.openxmlformats.org/drawingml/2006/main">
            <a:pPr>
              <a:defRPr sz="2025" b="0">
                <a:solidFill>
                  <a:srgbClr val="172E42"/>
                </a:solidFill>
                <a:latin typeface="Arial"/>
                <a:ea typeface="Arial"/>
                <a:cs typeface="Arial"/>
              </a:defRPr>
            </a:pPr>
            <a:r>
              <a:rPr sz="2025" b="0">
                <a:solidFill>
                  <a:srgbClr val="172E42"/>
                </a:solidFill>
                <a:latin typeface="Arial"/>
                <a:ea typeface="Arial"/>
                <a:cs typeface="Arial"/>
              </a:rPr>
              <a:t>tests/ contains regression checks.</a:t>
            </a:r>
          </a:p>
        </p:txBody>
      </p:sp>
      <p:sp>
        <p:nvSpPr>
          <p:cNvPr id="13" name="text-12">
            <a:extLst xmlns:a="http://schemas.openxmlformats.org/drawingml/2006/main">
              <a:ext uri="{FF2B5EF4-FFF2-40B4-BE49-F238E27FC236}">
                <a16:creationId xmlns:a16="http://schemas.microsoft.com/office/drawing/2014/main" id="{E634005A-65A4-4317-9AF1-2F7398ECAB5E}"/>
              </a:ext>
            </a:extLst>
          </p:cNvPr>
          <p:cNvSpPr>
            <a:spLocks xmlns:a="http://schemas.openxmlformats.org/drawingml/2006/main" noGrp="1"/>
          </p:cNvSpPr>
          <p:nvPr/>
        </p:nvSpPr>
        <p:spPr>
          <a:xfrm xmlns:a="http://schemas.openxmlformats.org/drawingml/2006/main">
            <a:off x="533400" y="59055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7F88"/>
                </a:solidFill>
                <a:latin typeface="Arial"/>
                <a:ea typeface="Arial"/>
                <a:cs typeface="Arial"/>
              </a:defRPr>
            </a:pPr>
            <a:r>
              <a:rPr sz="1800" b="1">
                <a:solidFill>
                  <a:srgbClr val="177F88"/>
                </a:solidFill>
                <a:latin typeface="Arial"/>
                <a:ea typeface="Arial"/>
                <a:cs typeface="Arial"/>
              </a:rPr>
              <a:t>The complete source and saved game are in the companion ZIP.</a:t>
            </a:r>
          </a:p>
        </p:txBody>
      </p:sp>
    </p:spTree>
    <p:extLst>
      <p:ext uri="{BB962C8B-B14F-4D97-AF65-F5344CB8AC3E}">
        <p14:creationId xmlns:p14="http://schemas.microsoft.com/office/powerpoint/2010/main" val="478482384"/>
      </p:ext>
    </p:extLst>
  </p:cSld>
</p:sld>
</file>

<file path=ppt/slides/slide16.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B4843D2-7990-41D9-A273-5390A766B464}"/>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APPENDIX / REFERENCE</a:t>
            </a:r>
          </a:p>
        </p:txBody>
      </p:sp>
      <p:sp>
        <p:nvSpPr>
          <p:cNvPr id="2" name="text-1">
            <a:extLst xmlns:a="http://schemas.openxmlformats.org/drawingml/2006/main">
              <a:ext uri="{FF2B5EF4-FFF2-40B4-BE49-F238E27FC236}">
                <a16:creationId xmlns:a16="http://schemas.microsoft.com/office/drawing/2014/main" id="{88E3F323-5F5B-4947-B80F-82A1F37FFD07}"/>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Code reference: stamina display</a:t>
            </a:r>
          </a:p>
        </p:txBody>
      </p:sp>
      <p:sp>
        <p:nvSpPr>
          <p:cNvPr id="3" name="text-2">
            <a:extLst xmlns:a="http://schemas.openxmlformats.org/drawingml/2006/main">
              <a:ext uri="{FF2B5EF4-FFF2-40B4-BE49-F238E27FC236}">
                <a16:creationId xmlns:a16="http://schemas.microsoft.com/office/drawing/2014/main" id="{187B9FC8-BEB3-493D-8DAF-E14B6BBCF415}"/>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Emaury Onyeneho</a:t>
            </a:r>
          </a:p>
        </p:txBody>
      </p:sp>
      <p:sp>
        <p:nvSpPr>
          <p:cNvPr id="4" name="text-3">
            <a:extLst xmlns:a="http://schemas.openxmlformats.org/drawingml/2006/main">
              <a:ext uri="{FF2B5EF4-FFF2-40B4-BE49-F238E27FC236}">
                <a16:creationId xmlns:a16="http://schemas.microsoft.com/office/drawing/2014/main" id="{926D169B-F509-4729-8473-28346E552F30}"/>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16</a:t>
            </a:r>
          </a:p>
        </p:txBody>
      </p:sp>
      <p:sp>
        <p:nvSpPr>
          <p:cNvPr id="5" name="text-4">
            <a:extLst xmlns:a="http://schemas.openxmlformats.org/drawingml/2006/main">
              <a:ext uri="{FF2B5EF4-FFF2-40B4-BE49-F238E27FC236}">
                <a16:creationId xmlns:a16="http://schemas.microsoft.com/office/drawing/2014/main" id="{72E3CB36-9070-40DB-A81E-245C556B7CCC}"/>
              </a:ext>
            </a:extLst>
          </p:cNvPr>
          <p:cNvSpPr>
            <a:spLocks xmlns:a="http://schemas.openxmlformats.org/drawingml/2006/main" noGrp="1"/>
          </p:cNvSpPr>
          <p:nvPr/>
        </p:nvSpPr>
        <p:spPr>
          <a:xfrm xmlns:a="http://schemas.openxmlformats.org/drawingml/2006/main">
            <a:off x="533400" y="21907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6F2E7"/>
                </a:solidFill>
                <a:latin typeface="Consolas"/>
                <a:ea typeface="Consolas"/>
                <a:cs typeface="Consolas"/>
              </a:defRPr>
            </a:pPr>
            <a:r>
              <a:rPr sz="2400" b="0">
                <a:solidFill>
                  <a:srgbClr val="F6F2E7"/>
                </a:solidFill>
                <a:latin typeface="Consolas"/>
                <a:ea typeface="Consolas"/>
                <a:cs typeface="Consolas"/>
              </a:rPr>
              <a:t>ui.Stamina.Size = UDim2.fromScale(</a:t>
            </a:r>
          </a:p>
        </p:txBody>
      </p:sp>
      <p:sp>
        <p:nvSpPr>
          <p:cNvPr id="6" name="text-5">
            <a:extLst xmlns:a="http://schemas.openxmlformats.org/drawingml/2006/main">
              <a:ext uri="{FF2B5EF4-FFF2-40B4-BE49-F238E27FC236}">
                <a16:creationId xmlns:a16="http://schemas.microsoft.com/office/drawing/2014/main" id="{B1B6C86F-E21A-4451-9295-0EFA1EED3D6D}"/>
              </a:ext>
            </a:extLst>
          </p:cNvPr>
          <p:cNvSpPr>
            <a:spLocks xmlns:a="http://schemas.openxmlformats.org/drawingml/2006/main" noGrp="1"/>
          </p:cNvSpPr>
          <p:nvPr/>
        </p:nvSpPr>
        <p:spPr>
          <a:xfrm xmlns:a="http://schemas.openxmlformats.org/drawingml/2006/main">
            <a:off x="533400" y="2552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6F2E7"/>
                </a:solidFill>
                <a:latin typeface="Consolas"/>
                <a:ea typeface="Consolas"/>
                <a:cs typeface="Consolas"/>
              </a:defRPr>
            </a:pPr>
            <a:r>
              <a:rPr sz="2400" b="0">
                <a:solidFill>
                  <a:srgbClr val="F6F2E7"/>
                </a:solidFill>
                <a:latin typeface="Consolas"/>
                <a:ea typeface="Consolas"/>
                <a:cs typeface="Consolas"/>
              </a:rPr>
              <a:t>    math.clamp(state.Stamina or 1, 0, 1),</a:t>
            </a:r>
          </a:p>
        </p:txBody>
      </p:sp>
      <p:sp>
        <p:nvSpPr>
          <p:cNvPr id="7" name="text-6">
            <a:extLst xmlns:a="http://schemas.openxmlformats.org/drawingml/2006/main">
              <a:ext uri="{FF2B5EF4-FFF2-40B4-BE49-F238E27FC236}">
                <a16:creationId xmlns:a16="http://schemas.microsoft.com/office/drawing/2014/main" id="{26F25698-B98A-404F-BBE5-79CD05A7E7F3}"/>
              </a:ext>
            </a:extLst>
          </p:cNvPr>
          <p:cNvSpPr>
            <a:spLocks xmlns:a="http://schemas.openxmlformats.org/drawingml/2006/main" noGrp="1"/>
          </p:cNvSpPr>
          <p:nvPr/>
        </p:nvSpPr>
        <p:spPr>
          <a:xfrm xmlns:a="http://schemas.openxmlformats.org/drawingml/2006/main">
            <a:off x="533400" y="29146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6F2E7"/>
                </a:solidFill>
                <a:latin typeface="Consolas"/>
                <a:ea typeface="Consolas"/>
                <a:cs typeface="Consolas"/>
              </a:defRPr>
            </a:pPr>
            <a:r>
              <a:rPr sz="2400" b="0">
                <a:solidFill>
                  <a:srgbClr val="F6F2E7"/>
                </a:solidFill>
                <a:latin typeface="Consolas"/>
                <a:ea typeface="Consolas"/>
                <a:cs typeface="Consolas"/>
              </a:rPr>
              <a:t>    1</a:t>
            </a:r>
          </a:p>
        </p:txBody>
      </p:sp>
      <p:sp>
        <p:nvSpPr>
          <p:cNvPr id="8" name="text-7">
            <a:extLst xmlns:a="http://schemas.openxmlformats.org/drawingml/2006/main">
              <a:ext uri="{FF2B5EF4-FFF2-40B4-BE49-F238E27FC236}">
                <a16:creationId xmlns:a16="http://schemas.microsoft.com/office/drawing/2014/main" id="{DAAE1C17-4D2B-41EF-9DEC-D71C55F9FDFD}"/>
              </a:ext>
            </a:extLst>
          </p:cNvPr>
          <p:cNvSpPr>
            <a:spLocks xmlns:a="http://schemas.openxmlformats.org/drawingml/2006/main" noGrp="1"/>
          </p:cNvSpPr>
          <p:nvPr/>
        </p:nvSpPr>
        <p:spPr>
          <a:xfrm xmlns:a="http://schemas.openxmlformats.org/drawingml/2006/main">
            <a:off x="533400" y="3276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6F2E7"/>
                </a:solidFill>
                <a:latin typeface="Consolas"/>
                <a:ea typeface="Consolas"/>
                <a:cs typeface="Consolas"/>
              </a:defRPr>
            </a:pPr>
            <a:r>
              <a:rPr sz="2400" b="0">
                <a:solidFill>
                  <a:srgbClr val="F6F2E7"/>
                </a:solidFill>
                <a:latin typeface="Consolas"/>
                <a:ea typeface="Consolas"/>
                <a:cs typeface="Consolas"/>
              </a:rPr>
              <a:t>)</a:t>
            </a:r>
          </a:p>
        </p:txBody>
      </p:sp>
      <p:sp>
        <p:nvSpPr>
          <p:cNvPr id="9" name="text-8">
            <a:extLst xmlns:a="http://schemas.openxmlformats.org/drawingml/2006/main">
              <a:ext uri="{FF2B5EF4-FFF2-40B4-BE49-F238E27FC236}">
                <a16:creationId xmlns:a16="http://schemas.microsoft.com/office/drawing/2014/main" id="{65CC5A54-CCC7-49E4-8BB7-5993431C7787}"/>
              </a:ext>
            </a:extLst>
          </p:cNvPr>
          <p:cNvSpPr>
            <a:spLocks xmlns:a="http://schemas.openxmlformats.org/drawingml/2006/main" noGrp="1"/>
          </p:cNvSpPr>
          <p:nvPr/>
        </p:nvSpPr>
        <p:spPr>
          <a:xfrm xmlns:a="http://schemas.openxmlformats.org/drawingml/2006/main">
            <a:off x="533400" y="42195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FFD04A"/>
                </a:solidFill>
                <a:latin typeface="Arial"/>
                <a:ea typeface="Arial"/>
                <a:cs typeface="Arial"/>
              </a:defRPr>
            </a:pPr>
            <a:r>
              <a:rPr sz="2400" b="1">
                <a:solidFill>
                  <a:srgbClr val="FFD04A"/>
                </a:solidFill>
                <a:latin typeface="Arial"/>
                <a:ea typeface="Arial"/>
                <a:cs typeface="Arial"/>
              </a:rPr>
              <a:t>Width follows stamina. Height stays at 100%.</a:t>
            </a:r>
          </a:p>
        </p:txBody>
      </p:sp>
      <p:sp>
        <p:nvSpPr>
          <p:cNvPr id="10" name="text-9">
            <a:extLst xmlns:a="http://schemas.openxmlformats.org/drawingml/2006/main">
              <a:ext uri="{FF2B5EF4-FFF2-40B4-BE49-F238E27FC236}">
                <a16:creationId xmlns:a16="http://schemas.microsoft.com/office/drawing/2014/main" id="{FB3CC097-AE6D-4065-AC2D-A58DAF2843D4}"/>
              </a:ext>
            </a:extLst>
          </p:cNvPr>
          <p:cNvSpPr>
            <a:spLocks xmlns:a="http://schemas.openxmlformats.org/drawingml/2006/main" noGrp="1"/>
          </p:cNvSpPr>
          <p:nvPr/>
        </p:nvSpPr>
        <p:spPr>
          <a:xfrm xmlns:a="http://schemas.openxmlformats.org/drawingml/2006/main">
            <a:off x="533400" y="501015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Arial"/>
                <a:ea typeface="Arial"/>
                <a:cs typeface="Arial"/>
              </a:defRPr>
            </a:pPr>
            <a:r>
              <a:rPr sz="2175" b="0">
                <a:solidFill>
                  <a:srgbClr val="F6F2E7"/>
                </a:solidFill>
                <a:latin typeface="Arial"/>
                <a:ea typeface="Arial"/>
                <a:cs typeface="Arial"/>
              </a:rPr>
              <a:t>The server controls stamina consumption and movement speed.</a:t>
            </a:r>
          </a:p>
        </p:txBody>
      </p:sp>
    </p:spTree>
    <p:extLst>
      <p:ext uri="{BB962C8B-B14F-4D97-AF65-F5344CB8AC3E}">
        <p14:creationId xmlns:p14="http://schemas.microsoft.com/office/powerpoint/2010/main" val="490482354"/>
      </p:ext>
    </p:extLst>
  </p:cSld>
</p:sld>
</file>

<file path=ppt/slides/slide17.xml><?xml version="1.0" encoding="utf-8"?>
<p:sld xmlns:p="http://schemas.openxmlformats.org/presentationml/2006/main">
  <p:cSld>
    <p:bg>
      <p:bgPr>
        <a:solidFill xmlns:a="http://schemas.openxmlformats.org/drawingml/2006/main">
          <a:srgbClr val="172E4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D622C58-96EF-4309-90F0-B956D0A8493A}"/>
              </a:ext>
            </a:extLst>
          </p:cNvPr>
          <p:cNvSpPr>
            <a:spLocks xmlns:a="http://schemas.openxmlformats.org/drawingml/2006/main" noGrp="1"/>
          </p:cNvSpPr>
          <p:nvPr/>
        </p:nvSpPr>
        <p:spPr>
          <a:xfrm xmlns:a="http://schemas.openxmlformats.org/drawingml/2006/main">
            <a:off x="533400" y="2667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AFCBD1"/>
                </a:solidFill>
                <a:latin typeface="Arial"/>
                <a:ea typeface="Arial"/>
                <a:cs typeface="Arial"/>
              </a:defRPr>
            </a:pPr>
            <a:r>
              <a:rPr sz="1275" b="1">
                <a:solidFill>
                  <a:srgbClr val="AFCBD1"/>
                </a:solidFill>
                <a:latin typeface="Arial"/>
                <a:ea typeface="Arial"/>
                <a:cs typeface="Arial"/>
              </a:rPr>
              <a:t>APPENDIX / REFERENCE</a:t>
            </a:r>
          </a:p>
        </p:txBody>
      </p:sp>
      <p:sp>
        <p:nvSpPr>
          <p:cNvPr id="2" name="text-1">
            <a:extLst xmlns:a="http://schemas.openxmlformats.org/drawingml/2006/main">
              <a:ext uri="{FF2B5EF4-FFF2-40B4-BE49-F238E27FC236}">
                <a16:creationId xmlns:a16="http://schemas.microsoft.com/office/drawing/2014/main" id="{DF2329A1-8649-47DB-B4AA-2F6C9B75D931}"/>
              </a:ext>
            </a:extLst>
          </p:cNvPr>
          <p:cNvSpPr>
            <a:spLocks xmlns:a="http://schemas.openxmlformats.org/drawingml/2006/main" noGrp="1"/>
          </p:cNvSpPr>
          <p:nvPr/>
        </p:nvSpPr>
        <p:spPr>
          <a:xfrm xmlns:a="http://schemas.openxmlformats.org/drawingml/2006/main">
            <a:off x="533400" y="723900"/>
            <a:ext cx="1114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6F2E7"/>
                </a:solidFill>
                <a:latin typeface="Arial"/>
                <a:ea typeface="Arial"/>
                <a:cs typeface="Arial"/>
              </a:defRPr>
            </a:pPr>
            <a:r>
              <a:rPr sz="3600" b="1">
                <a:solidFill>
                  <a:srgbClr val="F6F2E7"/>
                </a:solidFill>
                <a:latin typeface="Arial"/>
                <a:ea typeface="Arial"/>
                <a:cs typeface="Arial"/>
              </a:rPr>
              <a:t>Code reference: quiz answer validation</a:t>
            </a:r>
          </a:p>
        </p:txBody>
      </p:sp>
      <p:sp>
        <p:nvSpPr>
          <p:cNvPr id="3" name="text-2">
            <a:extLst xmlns:a="http://schemas.openxmlformats.org/drawingml/2006/main">
              <a:ext uri="{FF2B5EF4-FFF2-40B4-BE49-F238E27FC236}">
                <a16:creationId xmlns:a16="http://schemas.microsoft.com/office/drawing/2014/main" id="{91D2FF10-75DD-40AF-8554-893C28E14F4B}"/>
              </a:ext>
            </a:extLst>
          </p:cNvPr>
          <p:cNvSpPr>
            <a:spLocks xmlns:a="http://schemas.openxmlformats.org/drawingml/2006/main" noGrp="1"/>
          </p:cNvSpPr>
          <p:nvPr/>
        </p:nvSpPr>
        <p:spPr>
          <a:xfrm xmlns:a="http://schemas.openxmlformats.org/drawingml/2006/main">
            <a:off x="533400" y="64770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AFCBD1"/>
                </a:solidFill>
                <a:latin typeface="Arial"/>
                <a:ea typeface="Arial"/>
                <a:cs typeface="Arial"/>
              </a:defRPr>
            </a:pPr>
            <a:r>
              <a:rPr sz="1275" b="0">
                <a:solidFill>
                  <a:srgbClr val="AFCBD1"/>
                </a:solidFill>
                <a:latin typeface="Arial"/>
                <a:ea typeface="Arial"/>
                <a:cs typeface="Arial"/>
              </a:rPr>
              <a:t>James Hunter</a:t>
            </a:r>
          </a:p>
        </p:txBody>
      </p:sp>
      <p:sp>
        <p:nvSpPr>
          <p:cNvPr id="4" name="text-3">
            <a:extLst xmlns:a="http://schemas.openxmlformats.org/drawingml/2006/main">
              <a:ext uri="{FF2B5EF4-FFF2-40B4-BE49-F238E27FC236}">
                <a16:creationId xmlns:a16="http://schemas.microsoft.com/office/drawing/2014/main" id="{8B69605C-AA86-458A-BD0D-F531932618DF}"/>
              </a:ext>
            </a:extLst>
          </p:cNvPr>
          <p:cNvSpPr>
            <a:spLocks xmlns:a="http://schemas.openxmlformats.org/drawingml/2006/main" noGrp="1"/>
          </p:cNvSpPr>
          <p:nvPr/>
        </p:nvSpPr>
        <p:spPr>
          <a:xfrm xmlns:a="http://schemas.openxmlformats.org/drawingml/2006/main">
            <a:off x="11144250" y="64293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FFD04A"/>
                </a:solidFill>
                <a:latin typeface="Arial"/>
                <a:ea typeface="Arial"/>
                <a:cs typeface="Arial"/>
              </a:defRPr>
            </a:pPr>
            <a:r>
              <a:rPr sz="1575" b="1">
                <a:solidFill>
                  <a:srgbClr val="FFD04A"/>
                </a:solidFill>
                <a:latin typeface="Arial"/>
                <a:ea typeface="Arial"/>
                <a:cs typeface="Arial"/>
              </a:rPr>
              <a:t>17</a:t>
            </a:r>
          </a:p>
        </p:txBody>
      </p:sp>
      <p:sp>
        <p:nvSpPr>
          <p:cNvPr id="5" name="text-4">
            <a:extLst xmlns:a="http://schemas.openxmlformats.org/drawingml/2006/main">
              <a:ext uri="{FF2B5EF4-FFF2-40B4-BE49-F238E27FC236}">
                <a16:creationId xmlns:a16="http://schemas.microsoft.com/office/drawing/2014/main" id="{7EEA387F-43B4-406C-8E58-2E47521B6903}"/>
              </a:ext>
            </a:extLst>
          </p:cNvPr>
          <p:cNvSpPr>
            <a:spLocks xmlns:a="http://schemas.openxmlformats.org/drawingml/2006/main" noGrp="1"/>
          </p:cNvSpPr>
          <p:nvPr/>
        </p:nvSpPr>
        <p:spPr>
          <a:xfrm xmlns:a="http://schemas.openxmlformats.org/drawingml/2006/main">
            <a:off x="533400" y="21907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if index == question.Correct then</a:t>
            </a:r>
          </a:p>
        </p:txBody>
      </p:sp>
      <p:sp>
        <p:nvSpPr>
          <p:cNvPr id="6" name="text-5">
            <a:extLst xmlns:a="http://schemas.openxmlformats.org/drawingml/2006/main">
              <a:ext uri="{FF2B5EF4-FFF2-40B4-BE49-F238E27FC236}">
                <a16:creationId xmlns:a16="http://schemas.microsoft.com/office/drawing/2014/main" id="{971A2599-59EC-4609-851A-9147B7DE69AD}"/>
              </a:ext>
            </a:extLst>
          </p:cNvPr>
          <p:cNvSpPr>
            <a:spLocks xmlns:a="http://schemas.openxmlformats.org/drawingml/2006/main" noGrp="1"/>
          </p:cNvSpPr>
          <p:nvPr/>
        </p:nvSpPr>
        <p:spPr>
          <a:xfrm xmlns:a="http://schemas.openxmlformats.org/drawingml/2006/main">
            <a:off x="533400" y="2552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    s.Quiz += 1</a:t>
            </a:r>
          </a:p>
        </p:txBody>
      </p:sp>
      <p:sp>
        <p:nvSpPr>
          <p:cNvPr id="7" name="text-6">
            <a:extLst xmlns:a="http://schemas.openxmlformats.org/drawingml/2006/main">
              <a:ext uri="{FF2B5EF4-FFF2-40B4-BE49-F238E27FC236}">
                <a16:creationId xmlns:a16="http://schemas.microsoft.com/office/drawing/2014/main" id="{ACBBC90F-BAB7-499B-A8F3-F03924781148}"/>
              </a:ext>
            </a:extLst>
          </p:cNvPr>
          <p:cNvSpPr>
            <a:spLocks xmlns:a="http://schemas.openxmlformats.org/drawingml/2006/main" noGrp="1"/>
          </p:cNvSpPr>
          <p:nvPr/>
        </p:nvSpPr>
        <p:spPr>
          <a:xfrm xmlns:a="http://schemas.openxmlformats.org/drawingml/2006/main">
            <a:off x="533400" y="29146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    s.QuizUntil = t + 0.85</a:t>
            </a:r>
          </a:p>
        </p:txBody>
      </p:sp>
      <p:sp>
        <p:nvSpPr>
          <p:cNvPr id="8" name="text-7">
            <a:extLst xmlns:a="http://schemas.openxmlformats.org/drawingml/2006/main">
              <a:ext uri="{FF2B5EF4-FFF2-40B4-BE49-F238E27FC236}">
                <a16:creationId xmlns:a16="http://schemas.microsoft.com/office/drawing/2014/main" id="{300DCA55-CC69-47DF-9352-27FB89B72CB9}"/>
              </a:ext>
            </a:extLst>
          </p:cNvPr>
          <p:cNvSpPr>
            <a:spLocks xmlns:a="http://schemas.openxmlformats.org/drawingml/2006/main" noGrp="1"/>
          </p:cNvSpPr>
          <p:nvPr/>
        </p:nvSpPr>
        <p:spPr>
          <a:xfrm xmlns:a="http://schemas.openxmlformats.org/drawingml/2006/main">
            <a:off x="533400" y="3276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6F2E7"/>
                </a:solidFill>
                <a:latin typeface="Consolas"/>
                <a:ea typeface="Consolas"/>
                <a:cs typeface="Consolas"/>
              </a:defRPr>
            </a:pPr>
            <a:r>
              <a:rPr sz="2250" b="0">
                <a:solidFill>
                  <a:srgbClr val="F6F2E7"/>
                </a:solidFill>
                <a:latin typeface="Consolas"/>
                <a:ea typeface="Consolas"/>
                <a:cs typeface="Consolas"/>
              </a:rPr>
              <a:t>    P.Push(player)</a:t>
            </a:r>
          </a:p>
        </p:txBody>
      </p:sp>
      <p:sp>
        <p:nvSpPr>
          <p:cNvPr id="9" name="text-8">
            <a:extLst xmlns:a="http://schemas.openxmlformats.org/drawingml/2006/main">
              <a:ext uri="{FF2B5EF4-FFF2-40B4-BE49-F238E27FC236}">
                <a16:creationId xmlns:a16="http://schemas.microsoft.com/office/drawing/2014/main" id="{30C1C7E1-B6A1-49F5-BA1F-FAB3BA96219F}"/>
              </a:ext>
            </a:extLst>
          </p:cNvPr>
          <p:cNvSpPr>
            <a:spLocks xmlns:a="http://schemas.openxmlformats.org/drawingml/2006/main" noGrp="1"/>
          </p:cNvSpPr>
          <p:nvPr/>
        </p:nvSpPr>
        <p:spPr>
          <a:xfrm xmlns:a="http://schemas.openxmlformats.org/drawingml/2006/main">
            <a:off x="533400" y="36385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AFCBD1"/>
                </a:solidFill>
                <a:latin typeface="Consolas"/>
                <a:ea typeface="Consolas"/>
                <a:cs typeface="Consolas"/>
              </a:defRPr>
            </a:pPr>
            <a:r>
              <a:rPr sz="2250" b="0">
                <a:solidFill>
                  <a:srgbClr val="AFCBD1"/>
                </a:solidFill>
                <a:latin typeface="Consolas"/>
                <a:ea typeface="Consolas"/>
                <a:cs typeface="Consolas"/>
              </a:rPr>
              <a:t>    -- Feedback follows in the full function.</a:t>
            </a:r>
          </a:p>
        </p:txBody>
      </p:sp>
      <p:sp>
        <p:nvSpPr>
          <p:cNvPr id="10" name="text-9">
            <a:extLst xmlns:a="http://schemas.openxmlformats.org/drawingml/2006/main">
              <a:ext uri="{FF2B5EF4-FFF2-40B4-BE49-F238E27FC236}">
                <a16:creationId xmlns:a16="http://schemas.microsoft.com/office/drawing/2014/main" id="{93688C1A-23E6-4AF7-85B9-3AEEF9560ADE}"/>
              </a:ext>
            </a:extLst>
          </p:cNvPr>
          <p:cNvSpPr>
            <a:spLocks xmlns:a="http://schemas.openxmlformats.org/drawingml/2006/main" noGrp="1"/>
          </p:cNvSpPr>
          <p:nvPr/>
        </p:nvSpPr>
        <p:spPr>
          <a:xfrm xmlns:a="http://schemas.openxmlformats.org/drawingml/2006/main">
            <a:off x="533400" y="47529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6F2E7"/>
                </a:solidFill>
                <a:latin typeface="Arial"/>
                <a:ea typeface="Arial"/>
                <a:cs typeface="Arial"/>
              </a:defRPr>
            </a:pPr>
            <a:r>
              <a:rPr sz="2175" b="0">
                <a:solidFill>
                  <a:srgbClr val="F6F2E7"/>
                </a:solidFill>
                <a:latin typeface="Arial"/>
                <a:ea typeface="Arial"/>
                <a:cs typeface="Arial"/>
              </a:rPr>
              <a:t>Excerpt: the full function also validates distance, stage,</a:t>
            </a:r>
          </a:p>
          <a:p xmlns:a="http://schemas.openxmlformats.org/drawingml/2006/main">
            <a:pPr>
              <a:defRPr sz="2175" b="0">
                <a:solidFill>
                  <a:srgbClr val="F6F2E7"/>
                </a:solidFill>
                <a:latin typeface="Arial"/>
                <a:ea typeface="Arial"/>
                <a:cs typeface="Arial"/>
              </a:defRPr>
            </a:pPr>
            <a:r>
              <a:rPr sz="2175" b="0">
                <a:solidFill>
                  <a:srgbClr val="F6F2E7"/>
                </a:solidFill>
                <a:latin typeface="Arial"/>
                <a:ea typeface="Arial"/>
                <a:cs typeface="Arial"/>
              </a:rPr>
              <a:t>answer range, and cooldown before accepting an answer.</a:t>
            </a:r>
          </a:p>
        </p:txBody>
      </p:sp>
    </p:spTree>
    <p:extLst>
      <p:ext uri="{BB962C8B-B14F-4D97-AF65-F5344CB8AC3E}">
        <p14:creationId xmlns:p14="http://schemas.microsoft.com/office/powerpoint/2010/main" val="73709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2026-10-05T03:04:42.7000000Z</dcterms:created>
  <dcterms:modified xsi:type="dcterms:W3CDTF">2026-10-05T03:04:42.7010000Z</dcterms:modified>
</coreProperties>
</file>